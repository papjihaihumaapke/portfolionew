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Poppins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oppins-regular.fntdata"/><Relationship Id="rId21" Type="http://schemas.openxmlformats.org/officeDocument/2006/relationships/slide" Target="slides/slide16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SemiBold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11" Type="http://schemas.openxmlformats.org/officeDocument/2006/relationships/image" Target="../media/image3.png"/><Relationship Id="rId10" Type="http://schemas.openxmlformats.org/officeDocument/2006/relationships/image" Target="../media/image2.png"/><Relationship Id="rId12" Type="http://schemas.openxmlformats.org/officeDocument/2006/relationships/image" Target="../media/image5.png"/><Relationship Id="rId9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13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25.png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9.png"/><Relationship Id="rId6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Relationship Id="rId11" Type="http://schemas.openxmlformats.org/officeDocument/2006/relationships/image" Target="../media/image23.png"/><Relationship Id="rId10" Type="http://schemas.openxmlformats.org/officeDocument/2006/relationships/image" Target="../media/image29.png"/><Relationship Id="rId12" Type="http://schemas.openxmlformats.org/officeDocument/2006/relationships/image" Target="../media/image27.png"/><Relationship Id="rId9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32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42.png"/><Relationship Id="rId6" Type="http://schemas.openxmlformats.org/officeDocument/2006/relationships/image" Target="../media/image14.png"/><Relationship Id="rId7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36.png"/><Relationship Id="rId6" Type="http://schemas.openxmlformats.org/officeDocument/2006/relationships/image" Target="../media/image28.png"/><Relationship Id="rId7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34.png"/><Relationship Id="rId6" Type="http://schemas.openxmlformats.org/officeDocument/2006/relationships/image" Target="../media/image14.png"/><Relationship Id="rId7" Type="http://schemas.openxmlformats.org/officeDocument/2006/relationships/image" Target="../media/image4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31.png"/><Relationship Id="rId6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37.png"/><Relationship Id="rId9" Type="http://schemas.openxmlformats.org/officeDocument/2006/relationships/image" Target="../media/image47.png"/><Relationship Id="rId5" Type="http://schemas.openxmlformats.org/officeDocument/2006/relationships/image" Target="../media/image40.png"/><Relationship Id="rId6" Type="http://schemas.openxmlformats.org/officeDocument/2006/relationships/image" Target="../media/image44.png"/><Relationship Id="rId7" Type="http://schemas.openxmlformats.org/officeDocument/2006/relationships/image" Target="../media/image41.png"/><Relationship Id="rId8" Type="http://schemas.openxmlformats.org/officeDocument/2006/relationships/image" Target="../media/image4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762000" y="2305050"/>
            <a:ext cx="80010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Capstone Preparation Assignment</a:t>
            </a:r>
            <a:endParaRPr>
              <a:solidFill>
                <a:srgbClr val="2563EB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4237555"/>
            <a:ext cx="762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Mohammad Hilal Malik | Program: FDIT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940605" y="1474589"/>
            <a:ext cx="6310788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Assignment Overview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715000" y="2590800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124247" y="3143250"/>
            <a:ext cx="3943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Part 1: How to Pay Attention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769797" y="3966125"/>
            <a:ext cx="465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Part 2: Three Capstone Proposals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4124325" y="4788991"/>
            <a:ext cx="39433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Part 3: Robust Sources &amp; Reflection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2470"/>
            <a:ext cx="5334000" cy="4854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32470"/>
            <a:ext cx="5334000" cy="4854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90600" y="1813470"/>
            <a:ext cx="476059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Selected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90600" y="2402085"/>
            <a:ext cx="45339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As a UI/UX designer, observing someone outside the design field is crucial to challenge assumptions. The goal was to understand how a non-designer thinks, works, and makes decisions.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05600" y="1813470"/>
            <a:ext cx="476059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Adapted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705600" y="2402085"/>
            <a:ext cx="4533900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Instead of observing a UX expert, I sat with a colleague from the Accounts department. This provided an opportunity to observe a workflow completely different from creative design.</a:t>
            </a:r>
            <a:endParaRPr/>
          </a:p>
        </p:txBody>
      </p:sp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600" y="182299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5600" y="182299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Part 1: Walk with an Expert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88802"/>
            <a:ext cx="3492549" cy="3541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88802"/>
            <a:ext cx="3492549" cy="3541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88802"/>
            <a:ext cx="3492549" cy="35412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384077"/>
            <a:ext cx="6286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66775" y="3203227"/>
            <a:ext cx="1510188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Observation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66775" y="3791842"/>
            <a:ext cx="2901999" cy="1371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Watched their actual workflow including handling requests, approvals, and documentation. Focused on "Show me your real friction."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384077"/>
            <a:ext cx="6286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4645074" y="3203227"/>
            <a:ext cx="870108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Inquiry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645074" y="3791842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Prioritized asking "why" over "what" to uncover underlying motivations behind their actions.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384077"/>
            <a:ext cx="6286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423374" y="3203227"/>
            <a:ext cx="122015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Reflection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23374" y="3791842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Identified where work slowed due to missing info. Noted my own bias to "fix" immediately rather than understand.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5837" y="2526952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49862" y="2526952"/>
            <a:ext cx="2190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66249" y="252695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Exercise 1: Methodology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16285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1628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809625" y="2273647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Accuracy &gt; Speed: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For them, a "good experience" is defined by accuracy and proof, not visual appeal or speed.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09625" y="3239392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Risk Aversion: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Their workflow prioritizes reducing risk over convenience.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09625" y="3930848"/>
            <a:ext cx="50484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Root Causes: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Issues often </a:t>
            </a:r>
            <a:r>
              <a:rPr lang="en-US" sz="13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occurs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from unclear inputs from other teams.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 1: Learnings &amp; Research Connection</a:t>
            </a:r>
            <a:endParaRPr/>
          </a:p>
        </p:txBody>
      </p:sp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29269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5844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49898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2470"/>
            <a:ext cx="5334000" cy="4854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32470"/>
            <a:ext cx="5334000" cy="485402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990600" y="1813470"/>
            <a:ext cx="476059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Selected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990600" y="2402085"/>
            <a:ext cx="45339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To practice noticing environment and behaviors like a UX researcher. Understanding how context shapes experience is vital for design.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705600" y="1813470"/>
            <a:ext cx="476059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How Adapted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705600" y="2402085"/>
            <a:ext cx="45339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Compared the familiar (Richmond) with the less familiar (Langley). Intentionally took a transit route via Surrey Central instead of </a:t>
            </a:r>
            <a:r>
              <a:rPr lang="en-US" sz="13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usual route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to experience the "first-time user" journey.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600" y="182299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5600" y="182299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Part 1: Unfamiliar Walk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6022"/>
            <a:ext cx="3492549" cy="3266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26022"/>
            <a:ext cx="3492549" cy="3266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26022"/>
            <a:ext cx="3492549" cy="3266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521297"/>
            <a:ext cx="6286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866775" y="3340447"/>
            <a:ext cx="257032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Journey Observation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866775" y="3929062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Observed the commute itself: transfers, signage, timing, comfort, and stress points during the transit.</a:t>
            </a:r>
            <a:endParaRPr/>
          </a:p>
        </p:txBody>
      </p:sp>
      <p:pic>
        <p:nvPicPr>
          <p:cNvPr descr="image.png" id="171" name="Google Shape;171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521297"/>
            <a:ext cx="6286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4645074" y="3340447"/>
            <a:ext cx="1260157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Field Walk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4645074" y="3929062"/>
            <a:ext cx="2901999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Walked around Langley observing housing, spacing, and walkability factors compared to Richmond.</a:t>
            </a:r>
            <a:endParaRPr/>
          </a:p>
        </p:txBody>
      </p:sp>
      <p:pic>
        <p:nvPicPr>
          <p:cNvPr descr="image.png" id="174" name="Google Shape;174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521297"/>
            <a:ext cx="6286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8423374" y="3340447"/>
            <a:ext cx="153019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Comparison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423374" y="3929062"/>
            <a:ext cx="290199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Reflected on what felt easy vs. confusing, and contrasted people-first vs. car-first environments.</a:t>
            </a:r>
            <a:endParaRPr/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5837" y="2664172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49862" y="2664172"/>
            <a:ext cx="2190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23386" y="2664172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Exercise 2: Methodology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16285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1628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809625" y="2756445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Commute is the Journey: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The experience isn't just the destination. Small frictions (transfers, timing) erode trust.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809625" y="3447901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Context Friction: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Familiar routes hide friction; changing routes reveals stress points.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09625" y="4139356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Research Method: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Effectively a Field Observation combined with Journey Mapping—identifying pain points and emotional shifts.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 2: Learnings &amp; Research Connection</a:t>
            </a:r>
            <a:endParaRPr/>
          </a:p>
        </p:txBody>
      </p:sp>
      <p:pic>
        <p:nvPicPr>
          <p:cNvPr descr="image.png" id="192" name="Google Shape;19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7549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66951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58406"/>
            <a:ext cx="17145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2255519" y="2297459"/>
            <a:ext cx="7680960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Part 2: Capstone Proposals</a:t>
            </a:r>
            <a:endParaRPr/>
          </a:p>
        </p:txBody>
      </p:sp>
      <p:sp>
        <p:nvSpPr>
          <p:cNvPr id="201" name="Google Shape;201;p21"/>
          <p:cNvSpPr/>
          <p:nvPr/>
        </p:nvSpPr>
        <p:spPr>
          <a:xfrm>
            <a:off x="5715000" y="3413670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3200400" y="3966120"/>
            <a:ext cx="57912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Three potential directions for the Capstone project.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1628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571500" y="1524000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App Concept: The "Study Companion"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571500" y="1969740"/>
            <a:ext cx="52863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 deadline management and smart recall application designed to sync with Moodle, helping working students visualize intense weeks.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571500" y="3373635"/>
            <a:ext cx="528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Topic: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Deadline visibility and re</a:t>
            </a:r>
            <a:r>
              <a:rPr lang="en-US" sz="13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minder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&amp; management.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571500" y="3819376"/>
            <a:ext cx="528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Approach:</a:t>
            </a:r>
            <a:endParaRPr/>
          </a:p>
        </p:txBody>
      </p:sp>
      <p:pic>
        <p:nvPicPr>
          <p:cNvPr descr="image.png" id="213" name="Google Shape;21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1628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09625" y="4265116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H1: Deadline misses increase when work intensity spikes.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809625" y="4682281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H2: Higher-interruption nudges may reduce misses.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Proposal 1: Study Companion</a:t>
            </a:r>
            <a:endParaRPr/>
          </a:p>
        </p:txBody>
      </p:sp>
      <p:pic>
        <p:nvPicPr>
          <p:cNvPr descr="image.png" id="217" name="Google Shape;21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28416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1560244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01331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571500" y="5156625"/>
            <a:ext cx="51477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Key SMEs:</a:t>
            </a:r>
            <a:endParaRPr sz="10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-US" sz="11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Kuvan Parhar:</a:t>
            </a:r>
            <a:r>
              <a:rPr lang="en-US" sz="11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Student Counsellor. Insights on stress &amp; support.(kpu </a:t>
            </a:r>
            <a:r>
              <a:rPr lang="en-US" sz="11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alumni</a:t>
            </a:r>
            <a:r>
              <a:rPr lang="en-US" sz="11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1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-US" sz="11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Shubham Kaniya:</a:t>
            </a:r>
            <a:r>
              <a:rPr lang="en-US" sz="11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Automation Dev. Reminder workflow prototyping.</a:t>
            </a:r>
            <a:endParaRPr sz="11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1628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571500" y="1447800"/>
            <a:ext cx="5550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App Concept: The "Debate Workbench"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571500" y="1893540"/>
            <a:ext cx="52863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 web-based research interface that prompts multiple AI models simultaneously, highlighting disagreements to prevent "blind trust" in errors.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571500" y="3297435"/>
            <a:ext cx="528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Topic: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AI-assisted research &amp; trust verification.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571500" y="3743176"/>
            <a:ext cx="528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Approach:</a:t>
            </a:r>
            <a:endParaRPr/>
          </a:p>
        </p:txBody>
      </p:sp>
      <p:pic>
        <p:nvPicPr>
          <p:cNvPr descr="image.png" id="231" name="Google Shape;23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16285"/>
            <a:ext cx="5286375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145732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809625" y="4188916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H1: Multi-model critique reduces error acceptance.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809625" y="4606081"/>
            <a:ext cx="5048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H2: Showing disagreement improves user judgment.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Proposal 2: LLM Debate Workbench</a:t>
            </a:r>
            <a:endParaRPr/>
          </a:p>
        </p:txBody>
      </p:sp>
      <p:pic>
        <p:nvPicPr>
          <p:cNvPr descr="image.png" id="236" name="Google Shape;236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0796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25131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/>
        </p:nvSpPr>
        <p:spPr>
          <a:xfrm>
            <a:off x="571500" y="5156625"/>
            <a:ext cx="5147700" cy="12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Key SMEs:</a:t>
            </a:r>
            <a:endParaRPr sz="10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-US" sz="11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Mark Lee (ESDC):</a:t>
            </a:r>
            <a:r>
              <a:rPr lang="en-US" sz="11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AI App Dev. Reliability &amp; accountability.</a:t>
            </a:r>
            <a:endParaRPr sz="11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-US" sz="11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Divya Sirala (Turing):</a:t>
            </a:r>
            <a:r>
              <a:rPr lang="en-US" sz="11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GenAI Engineer. Evaluation rubrics &amp; bias.</a:t>
            </a:r>
            <a:endParaRPr sz="11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b="1" lang="en-US" sz="11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Andres Gaviria:</a:t>
            </a:r>
            <a:r>
              <a:rPr lang="en-US" sz="11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GenAI Dev. Architecture &amp; logging.</a:t>
            </a:r>
            <a:endParaRPr b="1" sz="11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1628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571500" y="1920180"/>
            <a:ext cx="555069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52425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App Concept: "myKPU Redesign"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571500" y="2365920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 streamlined student portal (or mobile companion app) that reorganizes complex dashboards into clear, task-based guided flows.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571500" y="3769816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Topic: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Student portal usability.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571500" y="4215556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Approach:</a:t>
            </a:r>
            <a:endParaRPr/>
          </a:p>
        </p:txBody>
      </p:sp>
      <p:pic>
        <p:nvPicPr>
          <p:cNvPr descr="image.png" id="249" name="Google Shape;249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2970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809625" y="4661296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H1: Wayfinding breakdown—students can't match cards to goals.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809625" y="5352752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H2: Visual uniformity creates cognitive overload.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Proposal 3: myKPU Usability</a:t>
            </a:r>
            <a:endParaRPr/>
          </a:p>
        </p:txBody>
      </p:sp>
      <p:pic>
        <p:nvPicPr>
          <p:cNvPr descr="image.png" id="253" name="Google Shape;25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8034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37180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34125" y="1851238"/>
            <a:ext cx="5286377" cy="315552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571500" y="5827075"/>
            <a:ext cx="49665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proposal is what i was not sure about so haven’t yet found SMEs</a:t>
            </a:r>
            <a:endParaRPr b="1" sz="10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1628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571500" y="1964084"/>
            <a:ext cx="555069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Aravind Srinivas (Perplexity)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571500" y="2409825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Theme: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Reliability &amp; Digital Amnesia.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571500" y="2855565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Discusses how Perplexity differs from Google, why answer variance occurs, and the implications of AI on information reliability.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571500" y="3868935"/>
            <a:ext cx="5550693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Gaurav Khatri (Noise)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571500" y="4314676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Theme: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Product-Market Fit &amp; Bootstrapping.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571500" y="4760416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Focuses on scaling without heavy funding, execution discipline, and building specific products for fast-moving markets.</a:t>
            </a:r>
            <a:endParaRPr/>
          </a:p>
        </p:txBody>
      </p:sp>
      <p:pic>
        <p:nvPicPr>
          <p:cNvPr descr="image.png" id="269" name="Google Shape;26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716285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Part 3: Robust Sources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2470"/>
            <a:ext cx="5334000" cy="4854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32470"/>
            <a:ext cx="5334000" cy="485402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6"/>
          <p:cNvSpPr txBox="1"/>
          <p:nvPr/>
        </p:nvSpPr>
        <p:spPr>
          <a:xfrm>
            <a:off x="990600" y="1813470"/>
            <a:ext cx="476059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Current Direction</a:t>
            </a:r>
            <a:endParaRPr/>
          </a:p>
        </p:txBody>
      </p:sp>
      <p:sp>
        <p:nvSpPr>
          <p:cNvPr id="279" name="Google Shape;279;p26"/>
          <p:cNvSpPr txBox="1"/>
          <p:nvPr/>
        </p:nvSpPr>
        <p:spPr>
          <a:xfrm>
            <a:off x="990600" y="2402085"/>
            <a:ext cx="4533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Leaning Toward Proposal </a:t>
            </a:r>
            <a:r>
              <a:rPr b="1" lang="en-US" sz="13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n-US" sz="13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Student Companion.</a:t>
            </a:r>
            <a:endParaRPr/>
          </a:p>
        </p:txBody>
      </p:sp>
      <p:sp>
        <p:nvSpPr>
          <p:cNvPr id="280" name="Google Shape;280;p26"/>
          <p:cNvSpPr txBox="1"/>
          <p:nvPr/>
        </p:nvSpPr>
        <p:spPr>
          <a:xfrm>
            <a:off x="990600" y="3293576"/>
            <a:ext cx="4533900" cy="21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Key Learning:</a:t>
            </a:r>
            <a:endParaRPr b="1" i="0" sz="135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Watching real work greatly changed how I define "user experience."</a:t>
            </a:r>
            <a:endParaRPr sz="1350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 best lessons came from problems, not from things that worked perfectly.</a:t>
            </a:r>
            <a:endParaRPr sz="1350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6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50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6705600" y="1813470"/>
            <a:ext cx="476059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238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Question for Instructor</a:t>
            </a:r>
            <a:endParaRPr/>
          </a:p>
        </p:txBody>
      </p:sp>
      <p:sp>
        <p:nvSpPr>
          <p:cNvPr id="282" name="Google Shape;282;p26"/>
          <p:cNvSpPr txBox="1"/>
          <p:nvPr/>
        </p:nvSpPr>
        <p:spPr>
          <a:xfrm>
            <a:off x="6705600" y="2402085"/>
            <a:ext cx="45339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"How broad should my capstone be so it stays research-focused but still testable by spring?"</a:t>
            </a:r>
            <a:endParaRPr/>
          </a:p>
        </p:txBody>
      </p:sp>
      <p:pic>
        <p:nvPicPr>
          <p:cNvPr descr="image.png" id="283" name="Google Shape;28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600" y="182299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05600" y="182299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6"/>
          <p:cNvSpPr txBox="1"/>
          <p:nvPr/>
        </p:nvSpPr>
        <p:spPr>
          <a:xfrm>
            <a:off x="571500" y="5715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Summary &amp; Reflection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7"/>
          <p:cNvSpPr/>
          <p:nvPr/>
        </p:nvSpPr>
        <p:spPr>
          <a:xfrm>
            <a:off x="571500" y="1014710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571500" y="1997571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571500" y="298043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571500" y="3963292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7"/>
          <p:cNvSpPr/>
          <p:nvPr/>
        </p:nvSpPr>
        <p:spPr>
          <a:xfrm>
            <a:off x="571500" y="4946153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571500" y="19880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7"/>
          <p:cNvSpPr/>
          <p:nvPr/>
        </p:nvSpPr>
        <p:spPr>
          <a:xfrm>
            <a:off x="571500" y="198804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571500" y="297090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571500" y="297090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571500" y="39537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571500" y="39537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571500" y="49366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571500" y="49366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571500" y="591948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571500" y="591948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6" name="Google Shape;30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6325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7"/>
          <p:cNvSpPr txBox="1"/>
          <p:nvPr/>
        </p:nvSpPr>
        <p:spPr>
          <a:xfrm>
            <a:off x="1666875" y="1157585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https://images.unsplash.com/photo-1758691737278-3af15b37af48?fm=jpg&amp;q=60&amp;w=3000&amp;ixlib=rb-4.1.0&amp;ixid=M3wxMjA3fDB8MHxwaG90by1yZWxhdGVkfDE1fHx8ZW58MHx8fHx8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1666875" y="160139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unsplash.com</a:t>
            </a:r>
            <a:endParaRPr/>
          </a:p>
        </p:txBody>
      </p:sp>
      <p:pic>
        <p:nvPicPr>
          <p:cNvPr descr="image.png" id="309" name="Google Shape;30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4611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7"/>
          <p:cNvSpPr txBox="1"/>
          <p:nvPr/>
        </p:nvSpPr>
        <p:spPr>
          <a:xfrm>
            <a:off x="1666875" y="214044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https://www.worldobesity.org/images/made/images/remote/https_s3-eu-west-1.amazonaws.com/wof-image-bank/Misys_SP2016043861_1200_1800_s_c1.jpg</a:t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1666875" y="258425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www.worldobesity.org</a:t>
            </a:r>
            <a:endParaRPr/>
          </a:p>
        </p:txBody>
      </p:sp>
      <p:pic>
        <p:nvPicPr>
          <p:cNvPr descr="image.png" id="312" name="Google Shape;31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289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7"/>
          <p:cNvSpPr txBox="1"/>
          <p:nvPr/>
        </p:nvSpPr>
        <p:spPr>
          <a:xfrm>
            <a:off x="1666875" y="312330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https://static.vecteezy.com/system/resources/previews/025/424/111/non_2x/happy-girl-with-laptop-sitting-at-table-young-woman-student-or-freelancer-working-or-studying-on-a-computer-minimalist-style-home-office-online-education-concept-flat-illustration-vector.jpg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1666875" y="356711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www.vecteezy.com</a:t>
            </a:r>
            <a:endParaRPr/>
          </a:p>
        </p:txBody>
      </p:sp>
      <p:pic>
        <p:nvPicPr>
          <p:cNvPr descr="image.png" id="315" name="Google Shape;31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1183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7"/>
          <p:cNvSpPr txBox="1"/>
          <p:nvPr/>
        </p:nvSpPr>
        <p:spPr>
          <a:xfrm>
            <a:off x="1666875" y="4106167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https://plus.unsplash.com/premium_photo-1733267068387-727038c4b62e?fm=jpg&amp;q=60&amp;w=3000&amp;ixlib=rb-4.1.0&amp;ixid=M3wxMjA3fDB8MHxwaG90by1wYWdlfHx8fGVufDB8fHx8fA%3D%3D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1666875" y="454997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unsplash.com</a:t>
            </a:r>
            <a:endParaRPr/>
          </a:p>
        </p:txBody>
      </p:sp>
      <p:pic>
        <p:nvPicPr>
          <p:cNvPr descr="image.png" id="318" name="Google Shape;318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1946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7"/>
          <p:cNvSpPr txBox="1"/>
          <p:nvPr/>
        </p:nvSpPr>
        <p:spPr>
          <a:xfrm>
            <a:off x="1666875" y="5089028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https://static.vecteezy.com/system/resources/thumbnails/071/820/558/small/dynamic-digital-dashboard-displays-complex-data-analytics-financial-charts-and-futuristic-interface-elements-in-a-vibrant-cyan-glow-showcasing-advanced-technology-photo.jpg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1666875" y="553283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www.vecteezy.com</a:t>
            </a:r>
            <a:endParaRPr/>
          </a:p>
        </p:txBody>
      </p:sp>
      <p:pic>
        <p:nvPicPr>
          <p:cNvPr descr="image.png" id="321" name="Google Shape;321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607843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7"/>
          <p:cNvSpPr txBox="1"/>
          <p:nvPr/>
        </p:nvSpPr>
        <p:spPr>
          <a:xfrm>
            <a:off x="1666875" y="607188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https://img.freepik.com/premium-photo/3d-render-microphone-headphones-audio-studio-desk-with-blue-lighting-full-shot_644874-6910.jpg</a:t>
            </a:r>
            <a:endParaRPr/>
          </a:p>
        </p:txBody>
      </p:sp>
      <p:sp>
        <p:nvSpPr>
          <p:cNvPr id="323" name="Google Shape;323;p27"/>
          <p:cNvSpPr txBox="1"/>
          <p:nvPr/>
        </p:nvSpPr>
        <p:spPr>
          <a:xfrm>
            <a:off x="1666875" y="63176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www.freepik.com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571500" y="153739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8"/>
          <p:cNvSpPr txBox="1"/>
          <p:nvPr/>
        </p:nvSpPr>
        <p:spPr>
          <a:xfrm>
            <a:off x="2095500" y="2343298"/>
            <a:ext cx="80010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2286000" y="3337619"/>
            <a:ext cx="7620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Mohammad Hilal Malik | Program: FDIT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2286000" y="3897659"/>
            <a:ext cx="76200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AI Transparency: "I used AI to help structure my notes into a clear presentation format. The observations, examples, and reflections are my own, written in my own words. Any sources suggested by AI were verified</a:t>
            </a:r>
            <a:r>
              <a:rPr i="1" lang="en-US" sz="10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r>
              <a:rPr b="0" i="1" lang="en-US" sz="105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."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