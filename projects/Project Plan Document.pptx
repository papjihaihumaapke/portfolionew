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slideLayout" Target="../slideLayouts/slideLayout1.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slideLayout" Target="../slideLayouts/slideLayout1.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image" Target="../media/image-8-21.png"/><Relationship Id="rId22" Type="http://schemas.openxmlformats.org/officeDocument/2006/relationships/image" Target="../media/image-8-22.png"/><Relationship Id="rId23" Type="http://schemas.openxmlformats.org/officeDocument/2006/relationships/image" Target="../media/image-8-23.png"/><Relationship Id="rId24" Type="http://schemas.openxmlformats.org/officeDocument/2006/relationships/image" Target="../media/image-8-24.png"/><Relationship Id="rId25" Type="http://schemas.openxmlformats.org/officeDocument/2006/relationships/image" Target="../media/image-8-25.png"/><Relationship Id="rId26" Type="http://schemas.openxmlformats.org/officeDocument/2006/relationships/image" Target="../media/image-8-26.png"/><Relationship Id="rId27" Type="http://schemas.openxmlformats.org/officeDocument/2006/relationships/image" Target="../media/image-8-27.png"/><Relationship Id="rId28" Type="http://schemas.openxmlformats.org/officeDocument/2006/relationships/slideLayout" Target="../slideLayouts/slideLayout1.xml"/><Relationship Id="rId2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image" Target="../media/image-14-19.png"/><Relationship Id="rId20" Type="http://schemas.openxmlformats.org/officeDocument/2006/relationships/image" Target="../media/image-14-20.png"/><Relationship Id="rId21" Type="http://schemas.openxmlformats.org/officeDocument/2006/relationships/image" Target="../media/image-14-21.png"/><Relationship Id="rId22" Type="http://schemas.openxmlformats.org/officeDocument/2006/relationships/image" Target="../media/image-14-22.png"/><Relationship Id="rId23" Type="http://schemas.openxmlformats.org/officeDocument/2006/relationships/image" Target="../media/image-14-23.png"/><Relationship Id="rId24" Type="http://schemas.openxmlformats.org/officeDocument/2006/relationships/image" Target="../media/image-14-24.png"/><Relationship Id="rId25" Type="http://schemas.openxmlformats.org/officeDocument/2006/relationships/image" Target="../media/image-14-25.png"/><Relationship Id="rId26" Type="http://schemas.openxmlformats.org/officeDocument/2006/relationships/image" Target="../media/image-14-26.png"/><Relationship Id="rId27" Type="http://schemas.openxmlformats.org/officeDocument/2006/relationships/image" Target="../media/image-14-27.png"/><Relationship Id="rId28" Type="http://schemas.openxmlformats.org/officeDocument/2006/relationships/image" Target="../media/image-14-28.png"/><Relationship Id="rId29" Type="http://schemas.openxmlformats.org/officeDocument/2006/relationships/image" Target="../media/image-14-29.png"/><Relationship Id="rId30" Type="http://schemas.openxmlformats.org/officeDocument/2006/relationships/image" Target="../media/image-14-30.png"/><Relationship Id="rId31" Type="http://schemas.openxmlformats.org/officeDocument/2006/relationships/image" Target="../media/image-14-31.png"/><Relationship Id="rId32" Type="http://schemas.openxmlformats.org/officeDocument/2006/relationships/slideLayout" Target="../slideLayouts/slideLayout1.xml"/><Relationship Id="rId3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1D"/>
        </a:solidFill>
      </p:bgPr>
    </p:bg>
    <p:spTree>
      <p:nvGrpSpPr>
        <p:cNvPr id="1" name=""/>
        <p:cNvGrpSpPr/>
        <p:nvPr/>
      </p:nvGrpSpPr>
      <p:grpSpPr>
        <a:xfrm>
          <a:off x="0" y="0"/>
          <a:ext cx="0" cy="0"/>
          <a:chOff x="0" y="0"/>
          <a:chExt cx="0" cy="0"/>
        </a:xfrm>
      </p:grpSpPr>
      <p:sp>
        <p:nvSpPr>
          <p:cNvPr id="2" name="Shape 0"/>
          <p:cNvSpPr/>
          <p:nvPr/>
        </p:nvSpPr>
        <p:spPr>
          <a:xfrm>
            <a:off x="476250" y="1607344"/>
            <a:ext cx="6205538" cy="1933575"/>
          </a:xfrm>
          <a:prstGeom prst="rect">
            <a:avLst/>
          </a:prstGeom>
          <a:noFill/>
          <a:ln/>
        </p:spPr>
      </p:sp>
      <p:sp>
        <p:nvSpPr>
          <p:cNvPr id="3" name="Text 1"/>
          <p:cNvSpPr/>
          <p:nvPr/>
        </p:nvSpPr>
        <p:spPr>
          <a:xfrm>
            <a:off x="476250" y="1607344"/>
            <a:ext cx="6662738" cy="800100"/>
          </a:xfrm>
          <a:prstGeom prst="rect">
            <a:avLst/>
          </a:prstGeom>
          <a:noFill/>
          <a:ln/>
        </p:spPr>
        <p:txBody>
          <a:bodyPr wrap="square" rtlCol="0" anchor="ctr"/>
          <a:lstStyle/>
          <a:p>
            <a:pPr algn="l" indent="0" marL="0">
              <a:lnSpc>
                <a:spcPts val="6300"/>
              </a:lnSpc>
              <a:buNone/>
            </a:pPr>
            <a:r>
              <a:rPr lang="en-US" sz="5250" dirty="0">
                <a:solidFill>
                  <a:srgbClr val="F8F8FF">
                    <a:alpha val="99000"/>
                  </a:srgbClr>
                </a:solidFill>
                <a:latin typeface="IBM Plex Sans" pitchFamily="34" charset="0"/>
                <a:ea typeface="IBM Plex Sans" pitchFamily="34" charset="-122"/>
                <a:cs typeface="IBM Plex Sans" pitchFamily="34" charset="-120"/>
              </a:rPr>
              <a:t>Pulse@KPU</a:t>
            </a:r>
            <a:endParaRPr lang="en-US" sz="5250" dirty="0"/>
          </a:p>
        </p:txBody>
      </p:sp>
      <p:sp>
        <p:nvSpPr>
          <p:cNvPr id="4" name="Text 2"/>
          <p:cNvSpPr/>
          <p:nvPr/>
        </p:nvSpPr>
        <p:spPr>
          <a:xfrm>
            <a:off x="476250" y="2464594"/>
            <a:ext cx="6662738" cy="790575"/>
          </a:xfrm>
          <a:prstGeom prst="rect">
            <a:avLst/>
          </a:prstGeom>
          <a:noFill/>
          <a:ln/>
        </p:spPr>
        <p:txBody>
          <a:bodyPr wrap="square" rtlCol="0" anchor="ctr"/>
          <a:lstStyle/>
          <a:p>
            <a:pPr algn="l" indent="0" marL="0">
              <a:lnSpc>
                <a:spcPts val="3120"/>
              </a:lnSpc>
              <a:buNone/>
            </a:pPr>
            <a:r>
              <a:rPr lang="en-US" sz="2400" spc="-53" kern="0" dirty="0">
                <a:solidFill>
                  <a:srgbClr val="D2D2FF">
                    <a:alpha val="99000"/>
                  </a:srgbClr>
                </a:solidFill>
                <a:latin typeface="IBM Plex Sans" pitchFamily="34" charset="0"/>
                <a:ea typeface="IBM Plex Sans" pitchFamily="34" charset="-122"/>
                <a:cs typeface="IBM Plex Sans" pitchFamily="34" charset="-120"/>
              </a:rPr>
              <a:t>Information on community events and happenings at Kwantlen Polytechnic University.</a:t>
            </a:r>
            <a:endParaRPr lang="en-US" sz="2400" dirty="0"/>
          </a:p>
        </p:txBody>
      </p:sp>
      <p:sp>
        <p:nvSpPr>
          <p:cNvPr id="5" name="Text 3"/>
          <p:cNvSpPr/>
          <p:nvPr/>
        </p:nvSpPr>
        <p:spPr>
          <a:xfrm>
            <a:off x="476250" y="3312319"/>
            <a:ext cx="6662738" cy="228600"/>
          </a:xfrm>
          <a:prstGeom prst="rect">
            <a:avLst/>
          </a:prstGeom>
          <a:noFill/>
          <a:ln/>
        </p:spPr>
        <p:txBody>
          <a:bodyPr wrap="square" rtlCol="0" anchor="ctr"/>
          <a:lstStyle/>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By Ken Yau &amp; Hilal Malik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61D"/>
        </a:solidFill>
      </p:bgPr>
    </p:bg>
    <p:spTree>
      <p:nvGrpSpPr>
        <p:cNvPr id="1" name=""/>
        <p:cNvGrpSpPr/>
        <p:nvPr/>
      </p:nvGrpSpPr>
      <p:grpSpPr>
        <a:xfrm>
          <a:off x="0" y="0"/>
          <a:ext cx="0" cy="0"/>
          <a:chOff x="0" y="0"/>
          <a:chExt cx="0" cy="0"/>
        </a:xfrm>
      </p:grpSpPr>
      <p:sp>
        <p:nvSpPr>
          <p:cNvPr id="2" name="Shape 0"/>
          <p:cNvSpPr/>
          <p:nvPr/>
        </p:nvSpPr>
        <p:spPr>
          <a:xfrm>
            <a:off x="476250" y="816769"/>
            <a:ext cx="3619500" cy="3509963"/>
          </a:xfrm>
          <a:prstGeom prst="rect">
            <a:avLst/>
          </a:prstGeom>
          <a:noFill/>
          <a:ln/>
        </p:spPr>
      </p:sp>
      <p:pic>
        <p:nvPicPr>
          <p:cNvPr id="3" name="Image 0" descr="preencoded.png">    </p:cNvPr>
          <p:cNvPicPr>
            <a:picLocks noChangeAspect="1"/>
          </p:cNvPicPr>
          <p:nvPr/>
        </p:nvPicPr>
        <p:blipFill>
          <a:blip r:embed="rId1"/>
          <a:stretch>
            <a:fillRect/>
          </a:stretch>
        </p:blipFill>
        <p:spPr>
          <a:xfrm>
            <a:off x="4572000" y="-14287"/>
            <a:ext cx="4572000" cy="5129213"/>
          </a:xfrm>
          <a:prstGeom prst="rect">
            <a:avLst/>
          </a:prstGeom>
        </p:spPr>
      </p:pic>
      <p:sp>
        <p:nvSpPr>
          <p:cNvPr id="4" name="Text 1"/>
          <p:cNvSpPr/>
          <p:nvPr/>
        </p:nvSpPr>
        <p:spPr>
          <a:xfrm>
            <a:off x="476250" y="816769"/>
            <a:ext cx="4076700" cy="395288"/>
          </a:xfrm>
          <a:prstGeom prst="rect">
            <a:avLst/>
          </a:prstGeom>
          <a:noFill/>
          <a:ln/>
        </p:spPr>
        <p:txBody>
          <a:bodyPr wrap="square" rtlCol="0" anchor="ctr"/>
          <a:lstStyle/>
          <a:p>
            <a:pPr algn="l" indent="0" marL="0">
              <a:lnSpc>
                <a:spcPts val="3120"/>
              </a:lnSpc>
              <a:buNone/>
            </a:pPr>
            <a:r>
              <a:rPr lang="en-US" sz="2400" spc="-53" kern="0" dirty="0">
                <a:solidFill>
                  <a:srgbClr val="FFFFFF">
                    <a:alpha val="99000"/>
                  </a:srgbClr>
                </a:solidFill>
                <a:latin typeface="IBM Plex Sans" pitchFamily="34" charset="0"/>
                <a:ea typeface="IBM Plex Sans" pitchFamily="34" charset="-122"/>
                <a:cs typeface="IBM Plex Sans" pitchFamily="34" charset="-120"/>
              </a:rPr>
              <a:t>Project General Overview</a:t>
            </a:r>
            <a:endParaRPr lang="en-US" sz="2400" dirty="0"/>
          </a:p>
        </p:txBody>
      </p:sp>
      <p:sp>
        <p:nvSpPr>
          <p:cNvPr id="5" name="Text 2"/>
          <p:cNvSpPr/>
          <p:nvPr/>
        </p:nvSpPr>
        <p:spPr>
          <a:xfrm>
            <a:off x="476250" y="1354931"/>
            <a:ext cx="4076700" cy="2971800"/>
          </a:xfrm>
          <a:prstGeom prst="rect">
            <a:avLst/>
          </a:prstGeom>
          <a:noFill/>
          <a:ln/>
        </p:spPr>
        <p:txBody>
          <a:bodyPr wrap="square" rtlCol="0" anchor="ctr"/>
          <a:lstStyle/>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The Pulse@KPU Events Web App aims to centralize and streamline the way students, faculty, and staff access information about events happening across KPU campuses.</a:t>
            </a:r>
            <a:endParaRPr lang="en-US" sz="1200" dirty="0"/>
          </a:p>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This project was inspired by my time working as an Events Assistant last semester, and the challenges we faced getting students informed about the various events that we had planned.</a:t>
            </a:r>
            <a:endParaRPr lang="en-US" sz="1200" dirty="0"/>
          </a:p>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Our objective with this app is improve awareness of events, increase student participation, and enhance the sense of community across KPU.</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61D"/>
        </a:solidFill>
      </p:bgPr>
    </p:bg>
    <p:spTree>
      <p:nvGrpSpPr>
        <p:cNvPr id="1" name=""/>
        <p:cNvGrpSpPr/>
        <p:nvPr/>
      </p:nvGrpSpPr>
      <p:grpSpPr>
        <a:xfrm>
          <a:off x="0" y="0"/>
          <a:ext cx="0" cy="0"/>
          <a:chOff x="0" y="0"/>
          <a:chExt cx="0" cy="0"/>
        </a:xfrm>
      </p:grpSpPr>
      <p:sp>
        <p:nvSpPr>
          <p:cNvPr id="2" name="Shape 0"/>
          <p:cNvSpPr/>
          <p:nvPr/>
        </p:nvSpPr>
        <p:spPr>
          <a:xfrm>
            <a:off x="476250" y="473869"/>
            <a:ext cx="5567363" cy="4195763"/>
          </a:xfrm>
          <a:prstGeom prst="rect">
            <a:avLst/>
          </a:prstGeom>
          <a:noFill/>
          <a:ln/>
        </p:spPr>
      </p:sp>
      <p:sp>
        <p:nvSpPr>
          <p:cNvPr id="3" name="Shape 1"/>
          <p:cNvSpPr/>
          <p:nvPr/>
        </p:nvSpPr>
        <p:spPr>
          <a:xfrm>
            <a:off x="6786563" y="1657350"/>
            <a:ext cx="1881187" cy="1838325"/>
          </a:xfrm>
          <a:prstGeom prst="rect">
            <a:avLst/>
          </a:prstGeom>
          <a:noFill/>
          <a:ln/>
        </p:spPr>
      </p:sp>
      <p:sp>
        <p:nvSpPr>
          <p:cNvPr id="4" name="Text 2"/>
          <p:cNvSpPr/>
          <p:nvPr/>
        </p:nvSpPr>
        <p:spPr>
          <a:xfrm>
            <a:off x="6786563" y="1657350"/>
            <a:ext cx="765207" cy="0"/>
          </a:xfrm>
          <a:prstGeom prst="rect">
            <a:avLst/>
          </a:prstGeom>
          <a:noFill/>
          <a:ln/>
        </p:spPr>
        <p:txBody>
          <a:bodyPr wrap="square" rtlCol="0" anchor="ctr"/>
          <a:lstStyle/>
          <a:p>
            <a:pPr algn="l" indent="0" marL="0">
              <a:buNone/>
            </a:pPr>
            <a:r>
              <a:rPr lang="en-US" sz="3750" b="1" spc="-37" kern="0" dirty="0">
                <a:solidFill>
                  <a:srgbClr val="9ED7F4">
                    <a:alpha val="99000"/>
                  </a:srgbClr>
                </a:solidFill>
                <a:latin typeface="Source Serif Pro" pitchFamily="34" charset="0"/>
                <a:ea typeface="Source Serif Pro" pitchFamily="34" charset="-122"/>
                <a:cs typeface="Source Serif Pro" pitchFamily="34" charset="-120"/>
              </a:rPr>
              <a:t>“</a:t>
            </a:r>
            <a:endParaRPr lang="en-US" sz="3750" dirty="0"/>
          </a:p>
        </p:txBody>
      </p:sp>
      <p:sp>
        <p:nvSpPr>
          <p:cNvPr id="5" name="Text 3"/>
          <p:cNvSpPr/>
          <p:nvPr/>
        </p:nvSpPr>
        <p:spPr>
          <a:xfrm>
            <a:off x="6786563" y="1800225"/>
            <a:ext cx="2338388" cy="1381125"/>
          </a:xfrm>
          <a:prstGeom prst="rect">
            <a:avLst/>
          </a:prstGeom>
          <a:noFill/>
          <a:ln/>
        </p:spPr>
        <p:txBody>
          <a:bodyPr wrap="square" rtlCol="0" anchor="ctr"/>
          <a:lstStyle/>
          <a:p>
            <a:pPr algn="l" indent="0" marL="0">
              <a:lnSpc>
                <a:spcPts val="2160"/>
              </a:lnSpc>
              <a:buNone/>
            </a:pPr>
            <a:r>
              <a:rPr lang="en-US" sz="1350" spc="-13" kern="0" dirty="0">
                <a:solidFill>
                  <a:srgbClr val="0E638E">
                    <a:alpha val="99000"/>
                  </a:srgbClr>
                </a:solidFill>
                <a:latin typeface="IBM Plex Sans" pitchFamily="34" charset="0"/>
                <a:ea typeface="IBM Plex Sans" pitchFamily="34" charset="-122"/>
                <a:cs typeface="IBM Plex Sans" pitchFamily="34" charset="-120"/>
              </a:rPr>
              <a:t>Coming together is a beginning; keeping together is progress; working together is success</a:t>
            </a:r>
            <a:endParaRPr lang="en-US" sz="1350" dirty="0"/>
          </a:p>
        </p:txBody>
      </p:sp>
      <p:sp>
        <p:nvSpPr>
          <p:cNvPr id="6" name="Text 4"/>
          <p:cNvSpPr/>
          <p:nvPr/>
        </p:nvSpPr>
        <p:spPr>
          <a:xfrm>
            <a:off x="6786563" y="3324225"/>
            <a:ext cx="2338388" cy="171450"/>
          </a:xfrm>
          <a:prstGeom prst="rect">
            <a:avLst/>
          </a:prstGeom>
          <a:noFill/>
          <a:ln/>
        </p:spPr>
        <p:txBody>
          <a:bodyPr wrap="square" rtlCol="0" anchor="ctr"/>
          <a:lstStyle/>
          <a:p>
            <a:pPr algn="l" indent="0" marL="0">
              <a:lnSpc>
                <a:spcPts val="1365"/>
              </a:lnSpc>
              <a:buNone/>
            </a:pPr>
            <a:r>
              <a:rPr lang="en-US" sz="1050" dirty="0">
                <a:solidFill>
                  <a:srgbClr val="9ED7F4">
                    <a:alpha val="99000"/>
                  </a:srgbClr>
                </a:solidFill>
                <a:latin typeface="IBM Plex Sans" pitchFamily="34" charset="0"/>
                <a:ea typeface="IBM Plex Sans" pitchFamily="34" charset="-122"/>
                <a:cs typeface="IBM Plex Sans" pitchFamily="34" charset="-120"/>
              </a:rPr>
              <a:t>— HENRY FORD</a:t>
            </a:r>
            <a:endParaRPr lang="en-US" sz="1050" dirty="0"/>
          </a:p>
        </p:txBody>
      </p:sp>
      <p:sp>
        <p:nvSpPr>
          <p:cNvPr id="7" name="Text 5"/>
          <p:cNvSpPr/>
          <p:nvPr/>
        </p:nvSpPr>
        <p:spPr>
          <a:xfrm>
            <a:off x="476250" y="473869"/>
            <a:ext cx="6024563" cy="395288"/>
          </a:xfrm>
          <a:prstGeom prst="rect">
            <a:avLst/>
          </a:prstGeom>
          <a:noFill/>
          <a:ln/>
        </p:spPr>
        <p:txBody>
          <a:bodyPr wrap="square" rtlCol="0" anchor="ctr"/>
          <a:lstStyle/>
          <a:p>
            <a:pPr algn="l" indent="0" marL="0">
              <a:lnSpc>
                <a:spcPts val="3120"/>
              </a:lnSpc>
              <a:buNone/>
            </a:pPr>
            <a:r>
              <a:rPr lang="en-US" sz="2400" spc="-53" kern="0" dirty="0">
                <a:solidFill>
                  <a:srgbClr val="FFFFFF">
                    <a:alpha val="99000"/>
                  </a:srgbClr>
                </a:solidFill>
                <a:latin typeface="IBM Plex Sans" pitchFamily="34" charset="0"/>
                <a:ea typeface="IBM Plex Sans" pitchFamily="34" charset="-122"/>
                <a:cs typeface="IBM Plex Sans" pitchFamily="34" charset="-120"/>
              </a:rPr>
              <a:t>Project Description</a:t>
            </a:r>
            <a:endParaRPr lang="en-US" sz="2400" dirty="0"/>
          </a:p>
        </p:txBody>
      </p:sp>
      <p:sp>
        <p:nvSpPr>
          <p:cNvPr id="8" name="Text 6"/>
          <p:cNvSpPr/>
          <p:nvPr/>
        </p:nvSpPr>
        <p:spPr>
          <a:xfrm>
            <a:off x="476250" y="1012031"/>
            <a:ext cx="6024563" cy="3657600"/>
          </a:xfrm>
          <a:prstGeom prst="rect">
            <a:avLst/>
          </a:prstGeom>
          <a:noFill/>
          <a:ln/>
        </p:spPr>
        <p:txBody>
          <a:bodyPr wrap="square" rtlCol="0" anchor="ctr"/>
          <a:lstStyle/>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Target Audience: The primary target audience includes KPU students, followed by faculty, staff, and external community members interested in attending public KPU events.</a:t>
            </a:r>
            <a:endParaRPr lang="en-US" sz="1200" dirty="0"/>
          </a:p>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The tool serves both events coordinators at the University, as well as students who are looking to get more involved in campus activities.</a:t>
            </a:r>
            <a:endParaRPr lang="en-US" sz="1200" dirty="0"/>
          </a:p>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Product Features:</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Browse events by dates or categories</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Search and filter events by keywords or campus location</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View event details such as time, venue, description, and organizers</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Add events to personal calendars</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Access multimedia like images and videos associated with the events</a:t>
            </a:r>
            <a:endParaRPr lang="en-US" sz="1200" dirty="0"/>
          </a:p>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Intended use: The app will used by students and staff to stay informed about upcoming opportunities, workshops, and happenings on campus.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61D"/>
        </a:solidFill>
      </p:bgPr>
    </p:bg>
    <p:spTree>
      <p:nvGrpSpPr>
        <p:cNvPr id="1" name=""/>
        <p:cNvGrpSpPr/>
        <p:nvPr/>
      </p:nvGrpSpPr>
      <p:grpSpPr>
        <a:xfrm>
          <a:off x="0" y="0"/>
          <a:ext cx="0" cy="0"/>
          <a:chOff x="0" y="0"/>
          <a:chExt cx="0" cy="0"/>
        </a:xfrm>
      </p:grpSpPr>
      <p:sp>
        <p:nvSpPr>
          <p:cNvPr id="2" name="Text 0"/>
          <p:cNvSpPr/>
          <p:nvPr/>
        </p:nvSpPr>
        <p:spPr>
          <a:xfrm>
            <a:off x="476250" y="381000"/>
            <a:ext cx="1338262" cy="171450"/>
          </a:xfrm>
          <a:prstGeom prst="rect">
            <a:avLst/>
          </a:prstGeom>
          <a:noFill/>
          <a:ln/>
        </p:spPr>
        <p:txBody>
          <a:bodyPr wrap="square" rtlCol="0" anchor="ctr"/>
          <a:lstStyle/>
          <a:p>
            <a:pPr algn="l" indent="0" marL="0">
              <a:lnSpc>
                <a:spcPts val="1365"/>
              </a:lnSpc>
              <a:buNone/>
            </a:pPr>
            <a:r>
              <a:rPr lang="en-US" sz="1050" dirty="0">
                <a:solidFill>
                  <a:srgbClr val="FFFFFF">
                    <a:alpha val="99000"/>
                  </a:srgbClr>
                </a:solidFill>
                <a:latin typeface="IBM Plex Sans" pitchFamily="34" charset="0"/>
                <a:ea typeface="IBM Plex Sans" pitchFamily="34" charset="-122"/>
                <a:cs typeface="IBM Plex Sans" pitchFamily="34" charset="-120"/>
              </a:rPr>
              <a:t>26 JUNE 2024</a:t>
            </a:r>
            <a:endParaRPr lang="en-US" sz="1050" dirty="0"/>
          </a:p>
        </p:txBody>
      </p:sp>
      <p:sp>
        <p:nvSpPr>
          <p:cNvPr id="3" name="Text 1"/>
          <p:cNvSpPr/>
          <p:nvPr/>
        </p:nvSpPr>
        <p:spPr>
          <a:xfrm>
            <a:off x="1471613" y="504825"/>
            <a:ext cx="6662738" cy="4133850"/>
          </a:xfrm>
          <a:prstGeom prst="rect">
            <a:avLst/>
          </a:prstGeom>
          <a:noFill/>
          <a:ln/>
        </p:spPr>
        <p:txBody>
          <a:bodyPr wrap="square" rtlCol="0" anchor="ctr"/>
          <a:lstStyle/>
          <a:p>
            <a:pPr algn="ctr" indent="0" marL="0">
              <a:lnSpc>
                <a:spcPts val="3120"/>
              </a:lnSpc>
              <a:buNone/>
            </a:pPr>
            <a:r>
              <a:rPr lang="en-US" sz="2400" spc="-53" kern="0" dirty="0">
                <a:solidFill>
                  <a:srgbClr val="D2D2FF">
                    <a:alpha val="99000"/>
                  </a:srgbClr>
                </a:solidFill>
                <a:latin typeface="IBM Plex Sans" pitchFamily="34" charset="0"/>
                <a:ea typeface="IBM Plex Sans" pitchFamily="34" charset="-122"/>
                <a:cs typeface="IBM Plex Sans" pitchFamily="34" charset="-120"/>
              </a:rPr>
              <a:t>	Need it fulfills: </a:t>
            </a:r>
            <a:endParaRPr lang="en-US" sz="2400" dirty="0"/>
          </a:p>
          <a:p>
            <a:pPr algn="ctr" indent="0" marL="0">
              <a:lnSpc>
                <a:spcPts val="2880"/>
              </a:lnSpc>
              <a:buNone/>
            </a:pPr>
            <a:r>
              <a:rPr lang="en-US" sz="1800" spc="-18" kern="0" dirty="0">
                <a:solidFill>
                  <a:srgbClr val="D2D2FF">
                    <a:alpha val="99000"/>
                  </a:srgbClr>
                </a:solidFill>
                <a:latin typeface="IBM Plex Sans" pitchFamily="34" charset="0"/>
                <a:ea typeface="IBM Plex Sans" pitchFamily="34" charset="-122"/>
                <a:cs typeface="IBM Plex Sans" pitchFamily="34" charset="-120"/>
              </a:rPr>
              <a:t>KPU students and staff currently don’t have a single, centralized tool to view or manage campus events. Currently events are advertised by mass emails sent from administrators.</a:t>
            </a:r>
            <a:endParaRPr lang="en-US" sz="2400" dirty="0"/>
          </a:p>
          <a:p>
            <a:pPr algn="ctr" indent="0" marL="0">
              <a:lnSpc>
                <a:spcPts val="3120"/>
              </a:lnSpc>
              <a:buNone/>
            </a:pPr>
            <a:r>
              <a:rPr lang="en-US" sz="2400" spc="-53" kern="0" dirty="0">
                <a:solidFill>
                  <a:srgbClr val="D2D2FF">
                    <a:alpha val="99000"/>
                  </a:srgbClr>
                </a:solidFill>
                <a:latin typeface="IBM Plex Sans" pitchFamily="34" charset="0"/>
                <a:ea typeface="IBM Plex Sans" pitchFamily="34" charset="-122"/>
                <a:cs typeface="IBM Plex Sans" pitchFamily="34" charset="-120"/>
              </a:rPr>
              <a:t>	Goal it addresses: </a:t>
            </a:r>
            <a:endParaRPr lang="en-US" sz="2400" dirty="0"/>
          </a:p>
          <a:p>
            <a:pPr algn="ctr" indent="0" marL="0">
              <a:lnSpc>
                <a:spcPts val="2880"/>
              </a:lnSpc>
              <a:buNone/>
            </a:pPr>
            <a:r>
              <a:rPr lang="en-US" sz="1800" spc="-18" kern="0" dirty="0">
                <a:solidFill>
                  <a:srgbClr val="D2D2FF">
                    <a:alpha val="99000"/>
                  </a:srgbClr>
                </a:solidFill>
                <a:latin typeface="IBM Plex Sans" pitchFamily="34" charset="0"/>
                <a:ea typeface="IBM Plex Sans" pitchFamily="34" charset="-122"/>
                <a:cs typeface="IBM Plex Sans" pitchFamily="34" charset="-120"/>
              </a:rPr>
              <a:t>Provide an user friendly platform where students can view upcoming events in a list or calendar format, and admins can post new events in real-time, without the need to use emails as the primary source of communication.</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61D"/>
        </a:solidFill>
      </p:bgPr>
    </p:bg>
    <p:spTree>
      <p:nvGrpSpPr>
        <p:cNvPr id="1" name=""/>
        <p:cNvGrpSpPr/>
        <p:nvPr/>
      </p:nvGrpSpPr>
      <p:grpSpPr>
        <a:xfrm>
          <a:off x="0" y="0"/>
          <a:ext cx="0" cy="0"/>
          <a:chOff x="0" y="0"/>
          <a:chExt cx="0" cy="0"/>
        </a:xfrm>
      </p:grpSpPr>
      <p:sp>
        <p:nvSpPr>
          <p:cNvPr id="2" name="Text 0"/>
          <p:cNvSpPr/>
          <p:nvPr/>
        </p:nvSpPr>
        <p:spPr>
          <a:xfrm>
            <a:off x="476250" y="381000"/>
            <a:ext cx="1338262" cy="171450"/>
          </a:xfrm>
          <a:prstGeom prst="rect">
            <a:avLst/>
          </a:prstGeom>
          <a:noFill/>
          <a:ln/>
        </p:spPr>
        <p:txBody>
          <a:bodyPr wrap="square" rtlCol="0" anchor="ctr"/>
          <a:lstStyle/>
          <a:p>
            <a:pPr algn="l" indent="0" marL="0">
              <a:lnSpc>
                <a:spcPts val="1365"/>
              </a:lnSpc>
              <a:buNone/>
            </a:pPr>
            <a:r>
              <a:rPr lang="en-US" sz="1050" dirty="0">
                <a:solidFill>
                  <a:srgbClr val="FFFFFF">
                    <a:alpha val="99000"/>
                  </a:srgbClr>
                </a:solidFill>
                <a:latin typeface="IBM Plex Sans" pitchFamily="34" charset="0"/>
                <a:ea typeface="IBM Plex Sans" pitchFamily="34" charset="-122"/>
                <a:cs typeface="IBM Plex Sans" pitchFamily="34" charset="-120"/>
              </a:rPr>
              <a:t>26 JUNE 2024</a:t>
            </a:r>
            <a:endParaRPr lang="en-US" sz="1050" dirty="0"/>
          </a:p>
        </p:txBody>
      </p:sp>
      <p:sp>
        <p:nvSpPr>
          <p:cNvPr id="3" name="Text 1"/>
          <p:cNvSpPr/>
          <p:nvPr/>
        </p:nvSpPr>
        <p:spPr>
          <a:xfrm>
            <a:off x="3771900" y="1185863"/>
            <a:ext cx="5024438" cy="2767013"/>
          </a:xfrm>
          <a:prstGeom prst="rect">
            <a:avLst/>
          </a:prstGeom>
          <a:noFill/>
          <a:ln/>
        </p:spPr>
        <p:txBody>
          <a:bodyPr wrap="square" rtlCol="0" anchor="ctr"/>
          <a:lstStyle/>
          <a:p>
            <a:pPr algn="l" indent="0" marL="0">
              <a:lnSpc>
                <a:spcPts val="3120"/>
              </a:lnSpc>
              <a:buNone/>
            </a:pPr>
            <a:r>
              <a:rPr lang="en-US" sz="2400" spc="-53" kern="0" dirty="0">
                <a:solidFill>
                  <a:srgbClr val="D2D2FF">
                    <a:alpha val="99000"/>
                  </a:srgbClr>
                </a:solidFill>
                <a:latin typeface="IBM Plex Sans" pitchFamily="34" charset="0"/>
                <a:ea typeface="IBM Plex Sans" pitchFamily="34" charset="-122"/>
                <a:cs typeface="IBM Plex Sans" pitchFamily="34" charset="-120"/>
              </a:rPr>
              <a:t>The end goal is for our app to create a more enriched learning environment for students by facilitating stronger community, relationships, and connections - an essential part of the post-secondary experience.</a:t>
            </a:r>
            <a:endParaRPr lang="en-US" sz="2400" dirty="0"/>
          </a:p>
        </p:txBody>
      </p:sp>
      <p:sp>
        <p:nvSpPr>
          <p:cNvPr id="4" name="Text 2"/>
          <p:cNvSpPr/>
          <p:nvPr/>
        </p:nvSpPr>
        <p:spPr>
          <a:xfrm>
            <a:off x="-3214687" y="2181225"/>
            <a:ext cx="6662738" cy="1238250"/>
          </a:xfrm>
          <a:prstGeom prst="rect">
            <a:avLst/>
          </a:prstGeom>
          <a:noFill/>
          <a:ln/>
        </p:spPr>
        <p:txBody>
          <a:bodyPr wrap="square" rtlCol="0" anchor="ctr"/>
          <a:lstStyle/>
          <a:p>
            <a:pPr algn="r" indent="0" marL="0">
              <a:lnSpc>
                <a:spcPts val="4860"/>
              </a:lnSpc>
              <a:buNone/>
            </a:pPr>
            <a:r>
              <a:rPr lang="en-US" sz="4050" dirty="0">
                <a:solidFill>
                  <a:srgbClr val="D2D2FF">
                    <a:alpha val="99000"/>
                  </a:srgbClr>
                </a:solidFill>
                <a:latin typeface="IBM Plex Sans" pitchFamily="34" charset="0"/>
                <a:ea typeface="IBM Plex Sans" pitchFamily="34" charset="-122"/>
                <a:cs typeface="IBM Plex Sans" pitchFamily="34" charset="-120"/>
              </a:rPr>
              <a:t>Impact:</a:t>
            </a:r>
            <a:endParaRPr lang="en-US" sz="4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61D"/>
        </a:solidFill>
      </p:bgPr>
    </p:bg>
    <p:spTree>
      <p:nvGrpSpPr>
        <p:cNvPr id="1" name=""/>
        <p:cNvGrpSpPr/>
        <p:nvPr/>
      </p:nvGrpSpPr>
      <p:grpSpPr>
        <a:xfrm>
          <a:off x="0" y="0"/>
          <a:ext cx="0" cy="0"/>
          <a:chOff x="0" y="0"/>
          <a:chExt cx="0" cy="0"/>
        </a:xfrm>
      </p:grpSpPr>
      <p:sp>
        <p:nvSpPr>
          <p:cNvPr id="2" name="Text 0"/>
          <p:cNvSpPr/>
          <p:nvPr/>
        </p:nvSpPr>
        <p:spPr>
          <a:xfrm>
            <a:off x="2842013" y="2051926"/>
            <a:ext cx="860356" cy="247042"/>
          </a:xfrm>
          <a:prstGeom prst="roundRect">
            <a:avLst>
              <a:gd name="adj" fmla="val 22208"/>
            </a:avLst>
          </a:prstGeom>
          <a:solidFill>
            <a:srgbClr val="DCCCFF"/>
          </a:solidFill>
          <a:ln w="50800">
            <a:solidFill>
              <a:srgbClr val="874FFF"/>
            </a:solidFill>
          </a:ln>
        </p:spPr>
        <p:txBody>
          <a:bodyPr wrap="square" rtlCol="0" anchor="ctr"/>
          <a:lstStyle/>
          <a:p>
            <a:pPr indent="0" marL="0">
              <a:buNone/>
            </a:pPr>
            <a:r>
              <a:rPr lang="en-US" dirty="0">
                <a:solidFill>
                  <a:srgbClr val="000000"/>
                </a:solidFill>
              </a:rPr>
              <a:t>Events Feed</a:t>
            </a:r>
            <a:endParaRPr lang="en-US" dirty="0"/>
          </a:p>
        </p:txBody>
      </p:sp>
      <p:sp>
        <p:nvSpPr>
          <p:cNvPr id="3" name="Text 1"/>
          <p:cNvSpPr/>
          <p:nvPr/>
        </p:nvSpPr>
        <p:spPr>
          <a:xfrm>
            <a:off x="457200" y="2592321"/>
            <a:ext cx="860356" cy="253821"/>
          </a:xfrm>
          <a:prstGeom prst="roundRect">
            <a:avLst/>
          </a:prstGeom>
          <a:solidFill>
            <a:srgbClr val="D9D9D9"/>
          </a:solidFill>
          <a:ln w="50800">
            <a:solidFill>
              <a:srgbClr val="A5A5A5"/>
            </a:solidFill>
          </a:ln>
        </p:spPr>
        <p:txBody>
          <a:bodyPr wrap="square" rtlCol="0" anchor="ctr"/>
          <a:lstStyle/>
          <a:p>
            <a:pPr indent="0" marL="0">
              <a:buNone/>
            </a:pPr>
            <a:r>
              <a:rPr lang="en-US" dirty="0">
                <a:solidFill>
                  <a:srgbClr val="000000"/>
                </a:solidFill>
              </a:rPr>
              <a:t>Open Pulse@KPU</a:t>
            </a:r>
            <a:endParaRPr lang="en-US" dirty="0"/>
          </a:p>
        </p:txBody>
      </p:sp>
      <p:sp>
        <p:nvSpPr>
          <p:cNvPr id="4" name="Text 2"/>
          <p:cNvSpPr/>
          <p:nvPr/>
        </p:nvSpPr>
        <p:spPr>
          <a:xfrm>
            <a:off x="7807393" y="2043995"/>
            <a:ext cx="860356" cy="253821"/>
          </a:xfrm>
          <a:prstGeom prst="roundRect">
            <a:avLst/>
          </a:prstGeom>
          <a:solidFill>
            <a:srgbClr val="D9D9D9"/>
          </a:solidFill>
          <a:ln w="50800">
            <a:solidFill>
              <a:srgbClr val="A5A5A5"/>
            </a:solidFill>
          </a:ln>
        </p:spPr>
        <p:txBody>
          <a:bodyPr wrap="square" rtlCol="0" anchor="ctr"/>
          <a:lstStyle/>
          <a:p>
            <a:pPr indent="0" marL="0">
              <a:buNone/>
            </a:pPr>
            <a:r>
              <a:rPr lang="en-US" dirty="0">
                <a:solidFill>
                  <a:srgbClr val="000000"/>
                </a:solidFill>
              </a:rPr>
              <a:t>End</a:t>
            </a:r>
            <a:endParaRPr lang="en-US" dirty="0"/>
          </a:p>
        </p:txBody>
      </p:sp>
      <p:sp>
        <p:nvSpPr>
          <p:cNvPr id="5" name="Text 3"/>
          <p:cNvSpPr/>
          <p:nvPr/>
        </p:nvSpPr>
        <p:spPr>
          <a:xfrm>
            <a:off x="1563030" y="2447389"/>
            <a:ext cx="860356" cy="543903"/>
          </a:xfrm>
          <a:prstGeom prst="diamond">
            <a:avLst/>
          </a:prstGeom>
          <a:solidFill>
            <a:srgbClr val="CDF4D3"/>
          </a:solidFill>
          <a:ln w="50800">
            <a:solidFill>
              <a:srgbClr val="66D575"/>
            </a:solidFill>
          </a:ln>
        </p:spPr>
        <p:txBody>
          <a:bodyPr wrap="square" rtlCol="0" anchor="ctr"/>
          <a:lstStyle/>
          <a:p>
            <a:pPr indent="0" marL="0">
              <a:buNone/>
            </a:pPr>
            <a:r>
              <a:rPr lang="en-US" dirty="0">
                <a:solidFill>
                  <a:srgbClr val="000000"/>
                </a:solidFill>
              </a:rPr>
              <a:t>Logged in?</a:t>
            </a:r>
            <a:endParaRPr lang="en-US" dirty="0"/>
          </a:p>
        </p:txBody>
      </p:sp>
      <p:sp>
        <p:nvSpPr>
          <p:cNvPr id="6" name="Text 4"/>
          <p:cNvSpPr/>
          <p:nvPr/>
        </p:nvSpPr>
        <p:spPr>
          <a:xfrm>
            <a:off x="3943415" y="1903486"/>
            <a:ext cx="860356" cy="543903"/>
          </a:xfrm>
          <a:prstGeom prst="diamond">
            <a:avLst/>
          </a:prstGeom>
          <a:solidFill>
            <a:srgbClr val="CDF4D3"/>
          </a:solidFill>
          <a:ln w="50800">
            <a:solidFill>
              <a:srgbClr val="66D575"/>
            </a:solidFill>
          </a:ln>
        </p:spPr>
        <p:txBody>
          <a:bodyPr wrap="square" rtlCol="0" anchor="ctr"/>
          <a:lstStyle/>
          <a:p>
            <a:pPr indent="0" marL="0">
              <a:buNone/>
            </a:pPr>
            <a:r>
              <a:rPr lang="en-US" dirty="0">
                <a:solidFill>
                  <a:srgbClr val="000000"/>
                </a:solidFill>
              </a:rPr>
              <a:t>Register For and Event</a:t>
            </a:r>
            <a:endParaRPr lang="en-US" dirty="0"/>
          </a:p>
        </p:txBody>
      </p:sp>
      <p:sp>
        <p:nvSpPr>
          <p:cNvPr id="7" name="Text 5"/>
          <p:cNvSpPr/>
          <p:nvPr/>
        </p:nvSpPr>
        <p:spPr>
          <a:xfrm>
            <a:off x="5321303" y="2046261"/>
            <a:ext cx="860356" cy="247042"/>
          </a:xfrm>
          <a:prstGeom prst="roundRect">
            <a:avLst>
              <a:gd name="adj" fmla="val 22208"/>
            </a:avLst>
          </a:prstGeom>
          <a:solidFill>
            <a:srgbClr val="DCCCFF"/>
          </a:solidFill>
          <a:ln w="50800">
            <a:solidFill>
              <a:srgbClr val="874FFF"/>
            </a:solidFill>
          </a:ln>
        </p:spPr>
        <p:txBody>
          <a:bodyPr wrap="square" rtlCol="0" anchor="ctr"/>
          <a:lstStyle/>
          <a:p>
            <a:pPr indent="0" marL="0">
              <a:buNone/>
            </a:pPr>
            <a:r>
              <a:rPr lang="en-US" dirty="0">
                <a:solidFill>
                  <a:srgbClr val="000000"/>
                </a:solidFill>
              </a:rPr>
              <a:t>Registration Modal</a:t>
            </a:r>
            <a:endParaRPr lang="en-US" dirty="0"/>
          </a:p>
        </p:txBody>
      </p:sp>
      <p:sp>
        <p:nvSpPr>
          <p:cNvPr id="8" name="Text 6"/>
          <p:cNvSpPr/>
          <p:nvPr/>
        </p:nvSpPr>
        <p:spPr>
          <a:xfrm>
            <a:off x="6564911" y="2042905"/>
            <a:ext cx="860356" cy="247042"/>
          </a:xfrm>
          <a:prstGeom prst="roundRect">
            <a:avLst>
              <a:gd name="adj" fmla="val 22208"/>
            </a:avLst>
          </a:prstGeom>
          <a:solidFill>
            <a:srgbClr val="DCCCFF"/>
          </a:solidFill>
          <a:ln w="50800">
            <a:solidFill>
              <a:srgbClr val="874FFF"/>
            </a:solidFill>
          </a:ln>
        </p:spPr>
        <p:txBody>
          <a:bodyPr wrap="square" rtlCol="0" anchor="ctr"/>
          <a:lstStyle/>
          <a:p>
            <a:pPr indent="0" marL="0">
              <a:buNone/>
            </a:pPr>
            <a:r>
              <a:rPr lang="en-US" dirty="0">
                <a:solidFill>
                  <a:srgbClr val="000000"/>
                </a:solidFill>
              </a:rPr>
              <a:t>Refreshed Feed</a:t>
            </a:r>
            <a:endParaRPr lang="en-US" dirty="0"/>
          </a:p>
        </p:txBody>
      </p:sp>
      <p:pic>
        <p:nvPicPr>
          <p:cNvPr id="9" name="Image 0" descr="preencoded.png">    </p:cNvPr>
          <p:cNvPicPr>
            <a:picLocks noChangeAspect="1"/>
          </p:cNvPicPr>
          <p:nvPr/>
        </p:nvPicPr>
        <p:blipFill>
          <a:blip r:embed="rId1"/>
          <a:stretch>
            <a:fillRect/>
          </a:stretch>
        </p:blipFill>
        <p:spPr>
          <a:xfrm>
            <a:off x="5321061" y="2701088"/>
            <a:ext cx="879435" cy="454172"/>
          </a:xfrm>
          <a:prstGeom prst="rect">
            <a:avLst/>
          </a:prstGeom>
        </p:spPr>
      </p:pic>
      <p:pic>
        <p:nvPicPr>
          <p:cNvPr id="10" name="Image 1" descr="preencoded.png">    </p:cNvPr>
          <p:cNvPicPr>
            <a:picLocks noChangeAspect="1"/>
          </p:cNvPicPr>
          <p:nvPr/>
        </p:nvPicPr>
        <p:blipFill>
          <a:blip r:embed="rId2"/>
          <a:stretch>
            <a:fillRect/>
          </a:stretch>
        </p:blipFill>
        <p:spPr>
          <a:xfrm>
            <a:off x="5421460" y="3518239"/>
            <a:ext cx="678531" cy="671733"/>
          </a:xfrm>
          <a:prstGeom prst="rect">
            <a:avLst/>
          </a:prstGeom>
        </p:spPr>
      </p:pic>
      <p:pic>
        <p:nvPicPr>
          <p:cNvPr id="11" name="Image 2" descr="preencoded.png">    </p:cNvPr>
          <p:cNvPicPr>
            <a:picLocks noChangeAspect="1"/>
          </p:cNvPicPr>
          <p:nvPr/>
        </p:nvPicPr>
        <p:blipFill>
          <a:blip r:embed="rId3"/>
          <a:stretch>
            <a:fillRect/>
          </a:stretch>
        </p:blipFill>
        <p:spPr>
          <a:xfrm>
            <a:off x="5751202" y="3136210"/>
            <a:ext cx="77149" cy="459177"/>
          </a:xfrm>
          <a:prstGeom prst="rect">
            <a:avLst/>
          </a:prstGeom>
        </p:spPr>
      </p:pic>
      <p:pic>
        <p:nvPicPr>
          <p:cNvPr id="12" name="Image 3" descr="preencoded.png">    </p:cNvPr>
          <p:cNvPicPr>
            <a:picLocks noChangeAspect="1"/>
          </p:cNvPicPr>
          <p:nvPr/>
        </p:nvPicPr>
        <p:blipFill>
          <a:blip r:embed="rId4"/>
          <a:stretch>
            <a:fillRect/>
          </a:stretch>
        </p:blipFill>
        <p:spPr>
          <a:xfrm>
            <a:off x="1339788" y="2719340"/>
            <a:ext cx="208950" cy="105213"/>
          </a:xfrm>
          <a:prstGeom prst="rect">
            <a:avLst/>
          </a:prstGeom>
        </p:spPr>
      </p:pic>
      <p:pic>
        <p:nvPicPr>
          <p:cNvPr id="13" name="Image 4" descr="preencoded.png">    </p:cNvPr>
          <p:cNvPicPr>
            <a:picLocks noChangeAspect="1"/>
          </p:cNvPicPr>
          <p:nvPr/>
        </p:nvPicPr>
        <p:blipFill>
          <a:blip r:embed="rId5"/>
          <a:stretch>
            <a:fillRect/>
          </a:stretch>
        </p:blipFill>
        <p:spPr>
          <a:xfrm>
            <a:off x="2451962" y="2175448"/>
            <a:ext cx="375768" cy="603643"/>
          </a:xfrm>
          <a:prstGeom prst="rect">
            <a:avLst/>
          </a:prstGeom>
        </p:spPr>
      </p:pic>
      <p:pic>
        <p:nvPicPr>
          <p:cNvPr id="14" name="Image 5" descr="preencoded.png">    </p:cNvPr>
          <p:cNvPicPr>
            <a:picLocks noChangeAspect="1"/>
          </p:cNvPicPr>
          <p:nvPr/>
        </p:nvPicPr>
        <p:blipFill>
          <a:blip r:embed="rId6"/>
          <a:stretch>
            <a:fillRect/>
          </a:stretch>
        </p:blipFill>
        <p:spPr>
          <a:xfrm>
            <a:off x="3730944" y="2175438"/>
            <a:ext cx="198183" cy="105213"/>
          </a:xfrm>
          <a:prstGeom prst="rect">
            <a:avLst/>
          </a:prstGeom>
        </p:spPr>
      </p:pic>
      <p:pic>
        <p:nvPicPr>
          <p:cNvPr id="15" name="Image 6" descr="preencoded.png">    </p:cNvPr>
          <p:cNvPicPr>
            <a:picLocks noChangeAspect="1"/>
          </p:cNvPicPr>
          <p:nvPr/>
        </p:nvPicPr>
        <p:blipFill>
          <a:blip r:embed="rId7"/>
          <a:stretch>
            <a:fillRect/>
          </a:stretch>
        </p:blipFill>
        <p:spPr>
          <a:xfrm>
            <a:off x="2844505" y="2701088"/>
            <a:ext cx="879435" cy="454172"/>
          </a:xfrm>
          <a:prstGeom prst="rect">
            <a:avLst/>
          </a:prstGeom>
        </p:spPr>
      </p:pic>
      <p:pic>
        <p:nvPicPr>
          <p:cNvPr id="16" name="Image 7" descr="preencoded.png">    </p:cNvPr>
          <p:cNvPicPr>
            <a:picLocks noChangeAspect="1"/>
          </p:cNvPicPr>
          <p:nvPr/>
        </p:nvPicPr>
        <p:blipFill>
          <a:blip r:embed="rId8"/>
          <a:stretch>
            <a:fillRect/>
          </a:stretch>
        </p:blipFill>
        <p:spPr>
          <a:xfrm>
            <a:off x="3272191" y="2327544"/>
            <a:ext cx="105212" cy="359257"/>
          </a:xfrm>
          <a:prstGeom prst="rect">
            <a:avLst/>
          </a:prstGeom>
        </p:spPr>
      </p:pic>
      <p:pic>
        <p:nvPicPr>
          <p:cNvPr id="17" name="Image 8" descr="preencoded.png">    </p:cNvPr>
          <p:cNvPicPr>
            <a:picLocks noChangeAspect="1"/>
          </p:cNvPicPr>
          <p:nvPr/>
        </p:nvPicPr>
        <p:blipFill>
          <a:blip r:embed="rId9"/>
          <a:stretch>
            <a:fillRect/>
          </a:stretch>
        </p:blipFill>
        <p:spPr>
          <a:xfrm>
            <a:off x="2451962" y="2719340"/>
            <a:ext cx="882476" cy="729262"/>
          </a:xfrm>
          <a:prstGeom prst="rect">
            <a:avLst/>
          </a:prstGeom>
        </p:spPr>
      </p:pic>
      <p:pic>
        <p:nvPicPr>
          <p:cNvPr id="18" name="Image 9" descr="preencoded.png">    </p:cNvPr>
          <p:cNvPicPr>
            <a:picLocks noChangeAspect="1"/>
          </p:cNvPicPr>
          <p:nvPr/>
        </p:nvPicPr>
        <p:blipFill>
          <a:blip r:embed="rId10"/>
          <a:stretch>
            <a:fillRect/>
          </a:stretch>
        </p:blipFill>
        <p:spPr>
          <a:xfrm>
            <a:off x="5751240" y="2321878"/>
            <a:ext cx="105212" cy="364922"/>
          </a:xfrm>
          <a:prstGeom prst="rect">
            <a:avLst/>
          </a:prstGeom>
        </p:spPr>
      </p:pic>
      <p:pic>
        <p:nvPicPr>
          <p:cNvPr id="19" name="Image 10" descr="preencoded.png">    </p:cNvPr>
          <p:cNvPicPr>
            <a:picLocks noChangeAspect="1"/>
          </p:cNvPicPr>
          <p:nvPr/>
        </p:nvPicPr>
        <p:blipFill>
          <a:blip r:embed="rId11"/>
          <a:stretch>
            <a:fillRect/>
          </a:stretch>
        </p:blipFill>
        <p:spPr>
          <a:xfrm>
            <a:off x="6119654" y="2318523"/>
            <a:ext cx="1244073" cy="731095"/>
          </a:xfrm>
          <a:prstGeom prst="rect">
            <a:avLst/>
          </a:prstGeom>
        </p:spPr>
      </p:pic>
      <p:pic>
        <p:nvPicPr>
          <p:cNvPr id="20" name="Image 11" descr="preencoded.png">    </p:cNvPr>
          <p:cNvPicPr>
            <a:picLocks noChangeAspect="1"/>
          </p:cNvPicPr>
          <p:nvPr/>
        </p:nvPicPr>
        <p:blipFill>
          <a:blip r:embed="rId12"/>
          <a:stretch>
            <a:fillRect/>
          </a:stretch>
        </p:blipFill>
        <p:spPr>
          <a:xfrm>
            <a:off x="3251392" y="1562100"/>
            <a:ext cx="1174807" cy="468395"/>
          </a:xfrm>
          <a:prstGeom prst="rect">
            <a:avLst/>
          </a:prstGeom>
        </p:spPr>
      </p:pic>
      <p:pic>
        <p:nvPicPr>
          <p:cNvPr id="21" name="Image 12" descr="preencoded.png">    </p:cNvPr>
          <p:cNvPicPr>
            <a:picLocks noChangeAspect="1"/>
          </p:cNvPicPr>
          <p:nvPr/>
        </p:nvPicPr>
        <p:blipFill>
          <a:blip r:embed="rId13"/>
          <a:stretch>
            <a:fillRect/>
          </a:stretch>
        </p:blipFill>
        <p:spPr>
          <a:xfrm>
            <a:off x="4832347" y="2048785"/>
            <a:ext cx="474669" cy="247650"/>
          </a:xfrm>
          <a:prstGeom prst="rect">
            <a:avLst/>
          </a:prstGeom>
        </p:spPr>
      </p:pic>
      <p:pic>
        <p:nvPicPr>
          <p:cNvPr id="22" name="Image 13" descr="preencoded.png">    </p:cNvPr>
          <p:cNvPicPr>
            <a:picLocks noChangeAspect="1"/>
          </p:cNvPicPr>
          <p:nvPr/>
        </p:nvPicPr>
        <p:blipFill>
          <a:blip r:embed="rId14"/>
          <a:stretch>
            <a:fillRect/>
          </a:stretch>
        </p:blipFill>
        <p:spPr>
          <a:xfrm>
            <a:off x="7453843" y="2170905"/>
            <a:ext cx="345602" cy="105213"/>
          </a:xfrm>
          <a:prstGeom prst="rect">
            <a:avLst/>
          </a:prstGeom>
        </p:spPr>
      </p:pic>
      <p:sp>
        <p:nvSpPr>
          <p:cNvPr id="23" name="Text 7"/>
          <p:cNvSpPr/>
          <p:nvPr/>
        </p:nvSpPr>
        <p:spPr>
          <a:xfrm>
            <a:off x="1857375" y="404813"/>
            <a:ext cx="5881688" cy="395288"/>
          </a:xfrm>
          <a:prstGeom prst="rect">
            <a:avLst/>
          </a:prstGeom>
          <a:noFill/>
          <a:ln/>
        </p:spPr>
        <p:txBody>
          <a:bodyPr wrap="square" rtlCol="0" anchor="ctr"/>
          <a:lstStyle/>
          <a:p>
            <a:pPr algn="ctr" indent="0" marL="0">
              <a:lnSpc>
                <a:spcPts val="3120"/>
              </a:lnSpc>
              <a:buNone/>
            </a:pPr>
            <a:r>
              <a:rPr lang="en-US" sz="2400" spc="-53" kern="0" dirty="0">
                <a:solidFill>
                  <a:srgbClr val="FFFFFF">
                    <a:alpha val="99000"/>
                  </a:srgbClr>
                </a:solidFill>
                <a:latin typeface="IBM Plex Sans" pitchFamily="34" charset="0"/>
                <a:ea typeface="IBM Plex Sans" pitchFamily="34" charset="-122"/>
                <a:cs typeface="IBM Plex Sans" pitchFamily="34" charset="-120"/>
              </a:rPr>
              <a:t>User Flow for Students &amp; Normal Users</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61D"/>
        </a:solidFill>
      </p:bgPr>
    </p:bg>
    <p:spTree>
      <p:nvGrpSpPr>
        <p:cNvPr id="1" name=""/>
        <p:cNvGrpSpPr/>
        <p:nvPr/>
      </p:nvGrpSpPr>
      <p:grpSpPr>
        <a:xfrm>
          <a:off x="0" y="0"/>
          <a:ext cx="0" cy="0"/>
          <a:chOff x="0" y="0"/>
          <a:chExt cx="0" cy="0"/>
        </a:xfrm>
      </p:grpSpPr>
      <p:sp>
        <p:nvSpPr>
          <p:cNvPr id="2" name="Text 0"/>
          <p:cNvSpPr/>
          <p:nvPr/>
        </p:nvSpPr>
        <p:spPr>
          <a:xfrm>
            <a:off x="2813056" y="1804926"/>
            <a:ext cx="884272" cy="253910"/>
          </a:xfrm>
          <a:prstGeom prst="roundRect">
            <a:avLst>
              <a:gd name="adj" fmla="val 21608"/>
            </a:avLst>
          </a:prstGeom>
          <a:solidFill>
            <a:srgbClr val="DCCCFF"/>
          </a:solidFill>
          <a:ln w="50800">
            <a:solidFill>
              <a:srgbClr val="874FFF"/>
            </a:solidFill>
          </a:ln>
        </p:spPr>
        <p:txBody>
          <a:bodyPr wrap="square" rtlCol="0" anchor="ctr"/>
          <a:lstStyle/>
          <a:p>
            <a:pPr indent="0" marL="0">
              <a:buNone/>
            </a:pPr>
            <a:r>
              <a:rPr lang="en-US" dirty="0">
                <a:solidFill>
                  <a:srgbClr val="000000"/>
                </a:solidFill>
              </a:rPr>
              <a:t>Events Feed</a:t>
            </a:r>
            <a:endParaRPr lang="en-US" dirty="0"/>
          </a:p>
        </p:txBody>
      </p:sp>
      <p:sp>
        <p:nvSpPr>
          <p:cNvPr id="3" name="Text 1"/>
          <p:cNvSpPr/>
          <p:nvPr/>
        </p:nvSpPr>
        <p:spPr>
          <a:xfrm>
            <a:off x="361950" y="2360342"/>
            <a:ext cx="884272" cy="260877"/>
          </a:xfrm>
          <a:prstGeom prst="roundRect">
            <a:avLst/>
          </a:prstGeom>
          <a:solidFill>
            <a:srgbClr val="D9D9D9"/>
          </a:solidFill>
          <a:ln w="50800">
            <a:solidFill>
              <a:srgbClr val="A5A5A5"/>
            </a:solidFill>
          </a:ln>
        </p:spPr>
        <p:txBody>
          <a:bodyPr wrap="square" rtlCol="0" anchor="ctr"/>
          <a:lstStyle/>
          <a:p>
            <a:pPr indent="0" marL="0">
              <a:buNone/>
            </a:pPr>
            <a:r>
              <a:rPr lang="en-US" dirty="0">
                <a:solidFill>
                  <a:srgbClr val="000000"/>
                </a:solidFill>
              </a:rPr>
              <a:t>Open Pulse@KPU</a:t>
            </a:r>
            <a:endParaRPr lang="en-US" dirty="0"/>
          </a:p>
        </p:txBody>
      </p:sp>
      <p:sp>
        <p:nvSpPr>
          <p:cNvPr id="4" name="Text 2"/>
          <p:cNvSpPr/>
          <p:nvPr/>
        </p:nvSpPr>
        <p:spPr>
          <a:xfrm>
            <a:off x="7916461" y="1796774"/>
            <a:ext cx="884272" cy="260877"/>
          </a:xfrm>
          <a:prstGeom prst="roundRect">
            <a:avLst/>
          </a:prstGeom>
          <a:solidFill>
            <a:srgbClr val="D9D9D9"/>
          </a:solidFill>
          <a:ln w="50800">
            <a:solidFill>
              <a:srgbClr val="A5A5A5"/>
            </a:solidFill>
          </a:ln>
        </p:spPr>
        <p:txBody>
          <a:bodyPr wrap="square" rtlCol="0" anchor="ctr"/>
          <a:lstStyle/>
          <a:p>
            <a:pPr indent="0" marL="0">
              <a:buNone/>
            </a:pPr>
            <a:r>
              <a:rPr lang="en-US" dirty="0">
                <a:solidFill>
                  <a:srgbClr val="000000"/>
                </a:solidFill>
              </a:rPr>
              <a:t>End</a:t>
            </a:r>
            <a:endParaRPr lang="en-US" dirty="0"/>
          </a:p>
        </p:txBody>
      </p:sp>
      <p:sp>
        <p:nvSpPr>
          <p:cNvPr id="5" name="Text 3"/>
          <p:cNvSpPr/>
          <p:nvPr/>
        </p:nvSpPr>
        <p:spPr>
          <a:xfrm>
            <a:off x="1498522" y="2211381"/>
            <a:ext cx="884272" cy="559022"/>
          </a:xfrm>
          <a:prstGeom prst="diamond">
            <a:avLst/>
          </a:prstGeom>
          <a:solidFill>
            <a:srgbClr val="CDF4D3"/>
          </a:solidFill>
          <a:ln w="50800">
            <a:solidFill>
              <a:srgbClr val="66D575"/>
            </a:solidFill>
          </a:ln>
        </p:spPr>
        <p:txBody>
          <a:bodyPr wrap="square" rtlCol="0" anchor="ctr"/>
          <a:lstStyle/>
          <a:p>
            <a:pPr indent="0" marL="0">
              <a:buNone/>
            </a:pPr>
            <a:r>
              <a:rPr lang="en-US" dirty="0">
                <a:solidFill>
                  <a:srgbClr val="000000"/>
                </a:solidFill>
              </a:rPr>
              <a:t>Logged in?</a:t>
            </a:r>
            <a:endParaRPr lang="en-US" dirty="0"/>
          </a:p>
        </p:txBody>
      </p:sp>
      <p:sp>
        <p:nvSpPr>
          <p:cNvPr id="6" name="Text 4"/>
          <p:cNvSpPr/>
          <p:nvPr/>
        </p:nvSpPr>
        <p:spPr>
          <a:xfrm>
            <a:off x="3945075" y="1652359"/>
            <a:ext cx="884272" cy="559022"/>
          </a:xfrm>
          <a:prstGeom prst="diamond">
            <a:avLst/>
          </a:prstGeom>
          <a:solidFill>
            <a:srgbClr val="CDF4D3"/>
          </a:solidFill>
          <a:ln w="50800">
            <a:solidFill>
              <a:srgbClr val="66D575"/>
            </a:solidFill>
          </a:ln>
        </p:spPr>
        <p:txBody>
          <a:bodyPr wrap="square" rtlCol="0" anchor="ctr"/>
          <a:lstStyle/>
          <a:p>
            <a:pPr indent="0" marL="0">
              <a:buNone/>
            </a:pPr>
            <a:r>
              <a:rPr lang="en-US" dirty="0">
                <a:solidFill>
                  <a:srgbClr val="000000"/>
                </a:solidFill>
              </a:rPr>
              <a:t>Post an event?</a:t>
            </a:r>
            <a:endParaRPr lang="en-US" dirty="0"/>
          </a:p>
        </p:txBody>
      </p:sp>
      <p:sp>
        <p:nvSpPr>
          <p:cNvPr id="7" name="Text 5"/>
          <p:cNvSpPr/>
          <p:nvPr/>
        </p:nvSpPr>
        <p:spPr>
          <a:xfrm>
            <a:off x="5462588" y="1795463"/>
            <a:ext cx="884272" cy="253910"/>
          </a:xfrm>
          <a:prstGeom prst="roundRect">
            <a:avLst>
              <a:gd name="adj" fmla="val 21608"/>
            </a:avLst>
          </a:prstGeom>
          <a:solidFill>
            <a:srgbClr val="DCCCFF"/>
          </a:solidFill>
          <a:ln w="50800">
            <a:solidFill>
              <a:srgbClr val="874FFF"/>
            </a:solidFill>
          </a:ln>
        </p:spPr>
        <p:txBody>
          <a:bodyPr wrap="square" rtlCol="0" anchor="ctr"/>
          <a:lstStyle/>
          <a:p>
            <a:pPr indent="0" marL="0">
              <a:buNone/>
            </a:pPr>
            <a:r>
              <a:rPr lang="en-US" dirty="0">
                <a:solidFill>
                  <a:srgbClr val="000000"/>
                </a:solidFill>
              </a:rPr>
              <a:t>Post Modal</a:t>
            </a:r>
            <a:endParaRPr lang="en-US" dirty="0"/>
          </a:p>
        </p:txBody>
      </p:sp>
      <p:sp>
        <p:nvSpPr>
          <p:cNvPr id="8" name="Text 6"/>
          <p:cNvSpPr/>
          <p:nvPr/>
        </p:nvSpPr>
        <p:spPr>
          <a:xfrm>
            <a:off x="6791325" y="1800225"/>
            <a:ext cx="884272" cy="253910"/>
          </a:xfrm>
          <a:prstGeom prst="roundRect">
            <a:avLst>
              <a:gd name="adj" fmla="val 21608"/>
            </a:avLst>
          </a:prstGeom>
          <a:solidFill>
            <a:srgbClr val="DCCCFF"/>
          </a:solidFill>
          <a:ln w="50800">
            <a:solidFill>
              <a:srgbClr val="874FFF"/>
            </a:solidFill>
          </a:ln>
        </p:spPr>
        <p:txBody>
          <a:bodyPr wrap="square" rtlCol="0" anchor="ctr"/>
          <a:lstStyle/>
          <a:p>
            <a:pPr indent="0" marL="0">
              <a:buNone/>
            </a:pPr>
            <a:r>
              <a:rPr lang="en-US" dirty="0">
                <a:solidFill>
                  <a:srgbClr val="000000"/>
                </a:solidFill>
              </a:rPr>
              <a:t>Refreshed Feed</a:t>
            </a:r>
            <a:endParaRPr lang="en-US" dirty="0"/>
          </a:p>
        </p:txBody>
      </p:sp>
      <p:pic>
        <p:nvPicPr>
          <p:cNvPr id="9" name="Image 0" descr="preencoded.png">    </p:cNvPr>
          <p:cNvPicPr>
            <a:picLocks noChangeAspect="1"/>
          </p:cNvPicPr>
          <p:nvPr/>
        </p:nvPicPr>
        <p:blipFill>
          <a:blip r:embed="rId1"/>
          <a:stretch>
            <a:fillRect/>
          </a:stretch>
        </p:blipFill>
        <p:spPr>
          <a:xfrm>
            <a:off x="5476875" y="2471738"/>
            <a:ext cx="871556" cy="586123"/>
          </a:xfrm>
          <a:prstGeom prst="rect">
            <a:avLst/>
          </a:prstGeom>
        </p:spPr>
      </p:pic>
      <p:pic>
        <p:nvPicPr>
          <p:cNvPr id="10" name="Image 1" descr="preencoded.png">    </p:cNvPr>
          <p:cNvPicPr>
            <a:picLocks noChangeAspect="1"/>
          </p:cNvPicPr>
          <p:nvPr/>
        </p:nvPicPr>
        <p:blipFill>
          <a:blip r:embed="rId2"/>
          <a:stretch>
            <a:fillRect/>
          </a:stretch>
        </p:blipFill>
        <p:spPr>
          <a:xfrm>
            <a:off x="5514975" y="3605213"/>
            <a:ext cx="800100" cy="747713"/>
          </a:xfrm>
          <a:prstGeom prst="rect">
            <a:avLst/>
          </a:prstGeom>
        </p:spPr>
      </p:pic>
      <p:pic>
        <p:nvPicPr>
          <p:cNvPr id="11" name="Image 2" descr="preencoded.png">    </p:cNvPr>
          <p:cNvPicPr>
            <a:picLocks noChangeAspect="1"/>
          </p:cNvPicPr>
          <p:nvPr/>
        </p:nvPicPr>
        <p:blipFill>
          <a:blip r:embed="rId3"/>
          <a:stretch>
            <a:fillRect/>
          </a:stretch>
        </p:blipFill>
        <p:spPr>
          <a:xfrm>
            <a:off x="5905500" y="3038811"/>
            <a:ext cx="77149" cy="643551"/>
          </a:xfrm>
          <a:prstGeom prst="rect">
            <a:avLst/>
          </a:prstGeom>
        </p:spPr>
      </p:pic>
      <p:pic>
        <p:nvPicPr>
          <p:cNvPr id="12" name="Image 3" descr="preencoded.png">    </p:cNvPr>
          <p:cNvPicPr>
            <a:picLocks noChangeAspect="1"/>
          </p:cNvPicPr>
          <p:nvPr/>
        </p:nvPicPr>
        <p:blipFill>
          <a:blip r:embed="rId4"/>
          <a:stretch>
            <a:fillRect/>
          </a:stretch>
        </p:blipFill>
        <p:spPr>
          <a:xfrm>
            <a:off x="1269397" y="2490892"/>
            <a:ext cx="214838" cy="105213"/>
          </a:xfrm>
          <a:prstGeom prst="rect">
            <a:avLst/>
          </a:prstGeom>
        </p:spPr>
      </p:pic>
      <p:pic>
        <p:nvPicPr>
          <p:cNvPr id="13" name="Image 4" descr="preencoded.png">    </p:cNvPr>
          <p:cNvPicPr>
            <a:picLocks noChangeAspect="1"/>
          </p:cNvPicPr>
          <p:nvPr/>
        </p:nvPicPr>
        <p:blipFill>
          <a:blip r:embed="rId5"/>
          <a:stretch>
            <a:fillRect/>
          </a:stretch>
        </p:blipFill>
        <p:spPr>
          <a:xfrm>
            <a:off x="2411369" y="1931880"/>
            <a:ext cx="387400" cy="618762"/>
          </a:xfrm>
          <a:prstGeom prst="rect">
            <a:avLst/>
          </a:prstGeom>
        </p:spPr>
      </p:pic>
      <p:pic>
        <p:nvPicPr>
          <p:cNvPr id="14" name="Image 5" descr="preencoded.png">    </p:cNvPr>
          <p:cNvPicPr>
            <a:picLocks noChangeAspect="1"/>
          </p:cNvPicPr>
          <p:nvPr/>
        </p:nvPicPr>
        <p:blipFill>
          <a:blip r:embed="rId6"/>
          <a:stretch>
            <a:fillRect/>
          </a:stretch>
        </p:blipFill>
        <p:spPr>
          <a:xfrm>
            <a:off x="3725903" y="1931870"/>
            <a:ext cx="204885" cy="105213"/>
          </a:xfrm>
          <a:prstGeom prst="rect">
            <a:avLst/>
          </a:prstGeom>
        </p:spPr>
      </p:pic>
      <p:pic>
        <p:nvPicPr>
          <p:cNvPr id="15" name="Image 6" descr="preencoded.png">    </p:cNvPr>
          <p:cNvPicPr>
            <a:picLocks noChangeAspect="1"/>
          </p:cNvPicPr>
          <p:nvPr/>
        </p:nvPicPr>
        <p:blipFill>
          <a:blip r:embed="rId7"/>
          <a:stretch>
            <a:fillRect/>
          </a:stretch>
        </p:blipFill>
        <p:spPr>
          <a:xfrm>
            <a:off x="2815619" y="2472133"/>
            <a:ext cx="903350" cy="466268"/>
          </a:xfrm>
          <a:prstGeom prst="rect">
            <a:avLst/>
          </a:prstGeom>
        </p:spPr>
      </p:pic>
      <p:pic>
        <p:nvPicPr>
          <p:cNvPr id="16" name="Image 7" descr="preencoded.png">    </p:cNvPr>
          <p:cNvPicPr>
            <a:picLocks noChangeAspect="1"/>
          </p:cNvPicPr>
          <p:nvPr/>
        </p:nvPicPr>
        <p:blipFill>
          <a:blip r:embed="rId8"/>
          <a:stretch>
            <a:fillRect/>
          </a:stretch>
        </p:blipFill>
        <p:spPr>
          <a:xfrm>
            <a:off x="3255192" y="2087410"/>
            <a:ext cx="105212" cy="370435"/>
          </a:xfrm>
          <a:prstGeom prst="rect">
            <a:avLst/>
          </a:prstGeom>
        </p:spPr>
      </p:pic>
      <p:pic>
        <p:nvPicPr>
          <p:cNvPr id="17" name="Image 8" descr="preencoded.png">    </p:cNvPr>
          <p:cNvPicPr>
            <a:picLocks noChangeAspect="1"/>
          </p:cNvPicPr>
          <p:nvPr/>
        </p:nvPicPr>
        <p:blipFill>
          <a:blip r:embed="rId9"/>
          <a:stretch>
            <a:fillRect/>
          </a:stretch>
        </p:blipFill>
        <p:spPr>
          <a:xfrm>
            <a:off x="2411369" y="2490892"/>
            <a:ext cx="906135" cy="745893"/>
          </a:xfrm>
          <a:prstGeom prst="rect">
            <a:avLst/>
          </a:prstGeom>
        </p:spPr>
      </p:pic>
      <p:pic>
        <p:nvPicPr>
          <p:cNvPr id="18" name="Image 9" descr="preencoded.png">    </p:cNvPr>
          <p:cNvPicPr>
            <a:picLocks noChangeAspect="1"/>
          </p:cNvPicPr>
          <p:nvPr/>
        </p:nvPicPr>
        <p:blipFill>
          <a:blip r:embed="rId10"/>
          <a:stretch>
            <a:fillRect/>
          </a:stretch>
        </p:blipFill>
        <p:spPr>
          <a:xfrm>
            <a:off x="5903119" y="2077947"/>
            <a:ext cx="105212" cy="379503"/>
          </a:xfrm>
          <a:prstGeom prst="rect">
            <a:avLst/>
          </a:prstGeom>
        </p:spPr>
      </p:pic>
      <p:pic>
        <p:nvPicPr>
          <p:cNvPr id="19" name="Image 10" descr="preencoded.png">    </p:cNvPr>
          <p:cNvPicPr>
            <a:picLocks noChangeAspect="1"/>
          </p:cNvPicPr>
          <p:nvPr/>
        </p:nvPicPr>
        <p:blipFill>
          <a:blip r:embed="rId11"/>
          <a:stretch>
            <a:fillRect/>
          </a:stretch>
        </p:blipFill>
        <p:spPr>
          <a:xfrm>
            <a:off x="6268427" y="2082710"/>
            <a:ext cx="1024784" cy="803534"/>
          </a:xfrm>
          <a:prstGeom prst="rect">
            <a:avLst/>
          </a:prstGeom>
        </p:spPr>
      </p:pic>
      <p:pic>
        <p:nvPicPr>
          <p:cNvPr id="20" name="Image 11" descr="preencoded.png">    </p:cNvPr>
          <p:cNvPicPr>
            <a:picLocks noChangeAspect="1"/>
          </p:cNvPicPr>
          <p:nvPr/>
        </p:nvPicPr>
        <p:blipFill>
          <a:blip r:embed="rId12"/>
          <a:stretch>
            <a:fillRect/>
          </a:stretch>
        </p:blipFill>
        <p:spPr>
          <a:xfrm>
            <a:off x="3249704" y="1304925"/>
            <a:ext cx="1191769" cy="478569"/>
          </a:xfrm>
          <a:prstGeom prst="rect">
            <a:avLst/>
          </a:prstGeom>
        </p:spPr>
      </p:pic>
      <p:pic>
        <p:nvPicPr>
          <p:cNvPr id="21" name="Image 12" descr="preencoded.png">    </p:cNvPr>
          <p:cNvPicPr>
            <a:picLocks noChangeAspect="1"/>
          </p:cNvPicPr>
          <p:nvPr/>
        </p:nvPicPr>
        <p:blipFill>
          <a:blip r:embed="rId13"/>
          <a:stretch>
            <a:fillRect/>
          </a:stretch>
        </p:blipFill>
        <p:spPr>
          <a:xfrm>
            <a:off x="4857922" y="1803319"/>
            <a:ext cx="590378" cy="247650"/>
          </a:xfrm>
          <a:prstGeom prst="rect">
            <a:avLst/>
          </a:prstGeom>
        </p:spPr>
      </p:pic>
      <p:pic>
        <p:nvPicPr>
          <p:cNvPr id="22" name="Image 13" descr="preencoded.png">    </p:cNvPr>
          <p:cNvPicPr>
            <a:picLocks noChangeAspect="1"/>
          </p:cNvPicPr>
          <p:nvPr/>
        </p:nvPicPr>
        <p:blipFill>
          <a:blip r:embed="rId14"/>
          <a:stretch>
            <a:fillRect/>
          </a:stretch>
        </p:blipFill>
        <p:spPr>
          <a:xfrm>
            <a:off x="7704172" y="1927212"/>
            <a:ext cx="203402" cy="105213"/>
          </a:xfrm>
          <a:prstGeom prst="rect">
            <a:avLst/>
          </a:prstGeom>
        </p:spPr>
      </p:pic>
      <p:sp>
        <p:nvSpPr>
          <p:cNvPr id="23" name="Text 7"/>
          <p:cNvSpPr/>
          <p:nvPr/>
        </p:nvSpPr>
        <p:spPr>
          <a:xfrm>
            <a:off x="1857375" y="404813"/>
            <a:ext cx="5881688" cy="395288"/>
          </a:xfrm>
          <a:prstGeom prst="rect">
            <a:avLst/>
          </a:prstGeom>
          <a:noFill/>
          <a:ln/>
        </p:spPr>
        <p:txBody>
          <a:bodyPr wrap="square" rtlCol="0" anchor="ctr"/>
          <a:lstStyle/>
          <a:p>
            <a:pPr algn="ctr" indent="0" marL="0">
              <a:lnSpc>
                <a:spcPts val="3120"/>
              </a:lnSpc>
              <a:buNone/>
            </a:pPr>
            <a:r>
              <a:rPr lang="en-US" sz="2400" spc="-53" kern="0" dirty="0">
                <a:solidFill>
                  <a:srgbClr val="FFFFFF">
                    <a:alpha val="99000"/>
                  </a:srgbClr>
                </a:solidFill>
                <a:latin typeface="IBM Plex Sans" pitchFamily="34" charset="0"/>
                <a:ea typeface="IBM Plex Sans" pitchFamily="34" charset="-122"/>
                <a:cs typeface="IBM Plex Sans" pitchFamily="34" charset="-120"/>
              </a:rPr>
              <a:t>User Flow for Admins</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61D"/>
        </a:solidFill>
      </p:bgPr>
    </p:bg>
    <p:spTree>
      <p:nvGrpSpPr>
        <p:cNvPr id="1" name=""/>
        <p:cNvGrpSpPr/>
        <p:nvPr/>
      </p:nvGrpSpPr>
      <p:grpSpPr>
        <a:xfrm>
          <a:off x="0" y="0"/>
          <a:ext cx="0" cy="0"/>
          <a:chOff x="0" y="0"/>
          <a:chExt cx="0" cy="0"/>
        </a:xfrm>
      </p:grpSpPr>
      <p:sp>
        <p:nvSpPr>
          <p:cNvPr id="2" name="Shape 0"/>
          <p:cNvSpPr/>
          <p:nvPr/>
        </p:nvSpPr>
        <p:spPr>
          <a:xfrm>
            <a:off x="4210050" y="533400"/>
            <a:ext cx="1874475" cy="4075351"/>
          </a:xfrm>
          <a:prstGeom prst="rect">
            <a:avLst/>
          </a:prstGeom>
          <a:solidFill>
            <a:srgbClr val="FFFFFF"/>
          </a:solidFill>
          <a:ln/>
        </p:spPr>
      </p:sp>
      <p:sp>
        <p:nvSpPr>
          <p:cNvPr id="3" name="Shape 1"/>
          <p:cNvSpPr/>
          <p:nvPr/>
        </p:nvSpPr>
        <p:spPr>
          <a:xfrm>
            <a:off x="6583449" y="533400"/>
            <a:ext cx="1874475" cy="4075351"/>
          </a:xfrm>
          <a:prstGeom prst="rect">
            <a:avLst/>
          </a:prstGeom>
          <a:solidFill>
            <a:srgbClr val="FFFFFF"/>
          </a:solidFill>
          <a:ln/>
        </p:spPr>
      </p:sp>
      <p:sp>
        <p:nvSpPr>
          <p:cNvPr id="4" name="Shape 2"/>
          <p:cNvSpPr/>
          <p:nvPr/>
        </p:nvSpPr>
        <p:spPr>
          <a:xfrm>
            <a:off x="476250" y="1388269"/>
            <a:ext cx="3619500" cy="2366963"/>
          </a:xfrm>
          <a:prstGeom prst="rect">
            <a:avLst/>
          </a:prstGeom>
          <a:noFill/>
          <a:ln/>
        </p:spPr>
      </p:sp>
      <p:sp>
        <p:nvSpPr>
          <p:cNvPr id="5" name="Shape 3"/>
          <p:cNvSpPr/>
          <p:nvPr/>
        </p:nvSpPr>
        <p:spPr>
          <a:xfrm>
            <a:off x="6583449" y="4184429"/>
            <a:ext cx="1874475" cy="438310"/>
          </a:xfrm>
          <a:prstGeom prst="rect">
            <a:avLst/>
          </a:prstGeom>
          <a:solidFill>
            <a:srgbClr val="000000"/>
          </a:solidFill>
          <a:ln/>
        </p:spPr>
      </p:sp>
      <p:sp>
        <p:nvSpPr>
          <p:cNvPr id="6" name="Shape 4"/>
          <p:cNvSpPr/>
          <p:nvPr/>
        </p:nvSpPr>
        <p:spPr>
          <a:xfrm>
            <a:off x="4210050" y="4184429"/>
            <a:ext cx="1874475" cy="438310"/>
          </a:xfrm>
          <a:prstGeom prst="rect">
            <a:avLst/>
          </a:prstGeom>
          <a:solidFill>
            <a:srgbClr val="000000"/>
          </a:solidFill>
          <a:ln/>
        </p:spPr>
      </p:sp>
      <p:pic>
        <p:nvPicPr>
          <p:cNvPr id="7" name="Image 0" descr="preencoded.png">    </p:cNvPr>
          <p:cNvPicPr>
            <a:picLocks noChangeAspect="1"/>
          </p:cNvPicPr>
          <p:nvPr/>
        </p:nvPicPr>
        <p:blipFill>
          <a:blip r:embed="rId1"/>
          <a:stretch>
            <a:fillRect/>
          </a:stretch>
        </p:blipFill>
        <p:spPr>
          <a:xfrm>
            <a:off x="6634749" y="850475"/>
            <a:ext cx="1785882" cy="1760235"/>
          </a:xfrm>
          <a:prstGeom prst="rect">
            <a:avLst/>
          </a:prstGeom>
        </p:spPr>
      </p:pic>
      <p:pic>
        <p:nvPicPr>
          <p:cNvPr id="8" name="Image 1" descr="preencoded.png">    </p:cNvPr>
          <p:cNvPicPr>
            <a:picLocks noChangeAspect="1"/>
          </p:cNvPicPr>
          <p:nvPr/>
        </p:nvPicPr>
        <p:blipFill>
          <a:blip r:embed="rId2"/>
          <a:stretch>
            <a:fillRect/>
          </a:stretch>
        </p:blipFill>
        <p:spPr>
          <a:xfrm>
            <a:off x="8220112" y="612668"/>
            <a:ext cx="177757" cy="98043"/>
          </a:xfrm>
          <a:prstGeom prst="rect">
            <a:avLst/>
          </a:prstGeom>
        </p:spPr>
      </p:pic>
      <p:pic>
        <p:nvPicPr>
          <p:cNvPr id="9" name="Image 2" descr="preencoded.png">    </p:cNvPr>
          <p:cNvPicPr>
            <a:picLocks noChangeAspect="1"/>
          </p:cNvPicPr>
          <p:nvPr/>
        </p:nvPicPr>
        <p:blipFill>
          <a:blip r:embed="rId3"/>
          <a:stretch>
            <a:fillRect/>
          </a:stretch>
        </p:blipFill>
        <p:spPr>
          <a:xfrm>
            <a:off x="6714018" y="2874162"/>
            <a:ext cx="111909" cy="111909"/>
          </a:xfrm>
          <a:prstGeom prst="rect">
            <a:avLst/>
          </a:prstGeom>
        </p:spPr>
      </p:pic>
      <p:pic>
        <p:nvPicPr>
          <p:cNvPr id="10" name="Image 3" descr="preencoded.png">    </p:cNvPr>
          <p:cNvPicPr>
            <a:picLocks noChangeAspect="1"/>
          </p:cNvPicPr>
          <p:nvPr/>
        </p:nvPicPr>
        <p:blipFill>
          <a:blip r:embed="rId4"/>
          <a:stretch>
            <a:fillRect/>
          </a:stretch>
        </p:blipFill>
        <p:spPr>
          <a:xfrm>
            <a:off x="6704688" y="3056015"/>
            <a:ext cx="111909" cy="111909"/>
          </a:xfrm>
          <a:prstGeom prst="rect">
            <a:avLst/>
          </a:prstGeom>
        </p:spPr>
      </p:pic>
      <p:pic>
        <p:nvPicPr>
          <p:cNvPr id="11" name="Image 4" descr="preencoded.png">    </p:cNvPr>
          <p:cNvPicPr>
            <a:picLocks noChangeAspect="1"/>
          </p:cNvPicPr>
          <p:nvPr/>
        </p:nvPicPr>
        <p:blipFill>
          <a:blip r:embed="rId5"/>
          <a:stretch>
            <a:fillRect/>
          </a:stretch>
        </p:blipFill>
        <p:spPr>
          <a:xfrm>
            <a:off x="6709367" y="3251855"/>
            <a:ext cx="111909" cy="111909"/>
          </a:xfrm>
          <a:prstGeom prst="rect">
            <a:avLst/>
          </a:prstGeom>
        </p:spPr>
      </p:pic>
      <p:pic>
        <p:nvPicPr>
          <p:cNvPr id="12" name="Image 5" descr="preencoded.png">    </p:cNvPr>
          <p:cNvPicPr>
            <a:picLocks noChangeAspect="1"/>
          </p:cNvPicPr>
          <p:nvPr/>
        </p:nvPicPr>
        <p:blipFill>
          <a:blip r:embed="rId6"/>
          <a:stretch>
            <a:fillRect/>
          </a:stretch>
        </p:blipFill>
        <p:spPr>
          <a:xfrm>
            <a:off x="6760639" y="3872017"/>
            <a:ext cx="718077" cy="202807"/>
          </a:xfrm>
          <a:prstGeom prst="rect">
            <a:avLst/>
          </a:prstGeom>
        </p:spPr>
      </p:pic>
      <p:pic>
        <p:nvPicPr>
          <p:cNvPr id="13" name="Image 6" descr="preencoded.png">    </p:cNvPr>
          <p:cNvPicPr>
            <a:picLocks noChangeAspect="1"/>
          </p:cNvPicPr>
          <p:nvPr/>
        </p:nvPicPr>
        <p:blipFill>
          <a:blip r:embed="rId7"/>
          <a:stretch>
            <a:fillRect/>
          </a:stretch>
        </p:blipFill>
        <p:spPr>
          <a:xfrm>
            <a:off x="6634749" y="2603715"/>
            <a:ext cx="1813861" cy="943698"/>
          </a:xfrm>
          <a:prstGeom prst="rect">
            <a:avLst/>
          </a:prstGeom>
        </p:spPr>
      </p:pic>
      <p:pic>
        <p:nvPicPr>
          <p:cNvPr id="14" name="Image 7" descr="preencoded.png">    </p:cNvPr>
          <p:cNvPicPr>
            <a:picLocks noChangeAspect="1"/>
          </p:cNvPicPr>
          <p:nvPr/>
        </p:nvPicPr>
        <p:blipFill>
          <a:blip r:embed="rId8"/>
          <a:stretch>
            <a:fillRect/>
          </a:stretch>
        </p:blipFill>
        <p:spPr>
          <a:xfrm>
            <a:off x="7567315" y="3867353"/>
            <a:ext cx="806676" cy="205167"/>
          </a:xfrm>
          <a:prstGeom prst="rect">
            <a:avLst/>
          </a:prstGeom>
        </p:spPr>
      </p:pic>
      <p:pic>
        <p:nvPicPr>
          <p:cNvPr id="15" name="Image 8" descr="preencoded.png">    </p:cNvPr>
          <p:cNvPicPr>
            <a:picLocks noChangeAspect="1"/>
          </p:cNvPicPr>
          <p:nvPr/>
        </p:nvPicPr>
        <p:blipFill>
          <a:blip r:embed="rId9"/>
          <a:stretch>
            <a:fillRect/>
          </a:stretch>
        </p:blipFill>
        <p:spPr>
          <a:xfrm>
            <a:off x="6695359" y="4277687"/>
            <a:ext cx="153088" cy="189795"/>
          </a:xfrm>
          <a:prstGeom prst="rect">
            <a:avLst/>
          </a:prstGeom>
        </p:spPr>
      </p:pic>
      <p:pic>
        <p:nvPicPr>
          <p:cNvPr id="16" name="Image 9" descr="preencoded.png">    </p:cNvPr>
          <p:cNvPicPr>
            <a:picLocks noChangeAspect="1"/>
          </p:cNvPicPr>
          <p:nvPr/>
        </p:nvPicPr>
        <p:blipFill>
          <a:blip r:embed="rId10"/>
          <a:stretch>
            <a:fillRect/>
          </a:stretch>
        </p:blipFill>
        <p:spPr>
          <a:xfrm>
            <a:off x="7133676" y="4263698"/>
            <a:ext cx="223819" cy="223818"/>
          </a:xfrm>
          <a:prstGeom prst="rect">
            <a:avLst/>
          </a:prstGeom>
        </p:spPr>
      </p:pic>
      <p:pic>
        <p:nvPicPr>
          <p:cNvPr id="17" name="Image 10" descr="preencoded.png">    </p:cNvPr>
          <p:cNvPicPr>
            <a:picLocks noChangeAspect="1"/>
          </p:cNvPicPr>
          <p:nvPr/>
        </p:nvPicPr>
        <p:blipFill>
          <a:blip r:embed="rId11"/>
          <a:stretch>
            <a:fillRect/>
          </a:stretch>
        </p:blipFill>
        <p:spPr>
          <a:xfrm>
            <a:off x="8136192" y="4291675"/>
            <a:ext cx="195841" cy="195841"/>
          </a:xfrm>
          <a:prstGeom prst="rect">
            <a:avLst/>
          </a:prstGeom>
        </p:spPr>
      </p:pic>
      <p:pic>
        <p:nvPicPr>
          <p:cNvPr id="18" name="Image 11" descr="preencoded.png">    </p:cNvPr>
          <p:cNvPicPr>
            <a:picLocks noChangeAspect="1"/>
          </p:cNvPicPr>
          <p:nvPr/>
        </p:nvPicPr>
        <p:blipFill>
          <a:blip r:embed="rId12"/>
          <a:stretch>
            <a:fillRect/>
          </a:stretch>
        </p:blipFill>
        <p:spPr>
          <a:xfrm>
            <a:off x="7651254" y="4259035"/>
            <a:ext cx="242469" cy="242470"/>
          </a:xfrm>
          <a:prstGeom prst="rect">
            <a:avLst/>
          </a:prstGeom>
        </p:spPr>
      </p:pic>
      <p:pic>
        <p:nvPicPr>
          <p:cNvPr id="19" name="Image 12" descr="preencoded.png">    </p:cNvPr>
          <p:cNvPicPr>
            <a:picLocks noChangeAspect="1"/>
          </p:cNvPicPr>
          <p:nvPr/>
        </p:nvPicPr>
        <p:blipFill>
          <a:blip r:embed="rId13"/>
          <a:stretch>
            <a:fillRect/>
          </a:stretch>
        </p:blipFill>
        <p:spPr>
          <a:xfrm>
            <a:off x="6877673" y="2896955"/>
            <a:ext cx="737183" cy="17918"/>
          </a:xfrm>
          <a:prstGeom prst="rect">
            <a:avLst/>
          </a:prstGeom>
        </p:spPr>
      </p:pic>
      <p:pic>
        <p:nvPicPr>
          <p:cNvPr id="20" name="Image 13" descr="preencoded.png">    </p:cNvPr>
          <p:cNvPicPr>
            <a:picLocks noChangeAspect="1"/>
          </p:cNvPicPr>
          <p:nvPr/>
        </p:nvPicPr>
        <p:blipFill>
          <a:blip r:embed="rId14"/>
          <a:stretch>
            <a:fillRect/>
          </a:stretch>
        </p:blipFill>
        <p:spPr>
          <a:xfrm>
            <a:off x="6872557" y="3101730"/>
            <a:ext cx="737183" cy="17918"/>
          </a:xfrm>
          <a:prstGeom prst="rect">
            <a:avLst/>
          </a:prstGeom>
        </p:spPr>
      </p:pic>
      <p:pic>
        <p:nvPicPr>
          <p:cNvPr id="21" name="Image 14" descr="preencoded.png">    </p:cNvPr>
          <p:cNvPicPr>
            <a:picLocks noChangeAspect="1"/>
          </p:cNvPicPr>
          <p:nvPr/>
        </p:nvPicPr>
        <p:blipFill>
          <a:blip r:embed="rId15"/>
          <a:stretch>
            <a:fillRect/>
          </a:stretch>
        </p:blipFill>
        <p:spPr>
          <a:xfrm>
            <a:off x="6872557" y="3316742"/>
            <a:ext cx="737183" cy="17918"/>
          </a:xfrm>
          <a:prstGeom prst="rect">
            <a:avLst/>
          </a:prstGeom>
        </p:spPr>
      </p:pic>
      <p:pic>
        <p:nvPicPr>
          <p:cNvPr id="22" name="Image 15" descr="preencoded.png">    </p:cNvPr>
          <p:cNvPicPr>
            <a:picLocks noChangeAspect="1"/>
          </p:cNvPicPr>
          <p:nvPr/>
        </p:nvPicPr>
        <p:blipFill>
          <a:blip r:embed="rId16"/>
          <a:stretch>
            <a:fillRect/>
          </a:stretch>
        </p:blipFill>
        <p:spPr>
          <a:xfrm>
            <a:off x="6681360" y="3774096"/>
            <a:ext cx="1659982" cy="16320"/>
          </a:xfrm>
          <a:prstGeom prst="rect">
            <a:avLst/>
          </a:prstGeom>
        </p:spPr>
      </p:pic>
      <p:pic>
        <p:nvPicPr>
          <p:cNvPr id="23" name="Image 16" descr="preencoded.png">    </p:cNvPr>
          <p:cNvPicPr>
            <a:picLocks noChangeAspect="1"/>
          </p:cNvPicPr>
          <p:nvPr/>
        </p:nvPicPr>
        <p:blipFill>
          <a:blip r:embed="rId17"/>
          <a:stretch>
            <a:fillRect/>
          </a:stretch>
        </p:blipFill>
        <p:spPr>
          <a:xfrm>
            <a:off x="7683894" y="2762252"/>
            <a:ext cx="690107" cy="597530"/>
          </a:xfrm>
          <a:prstGeom prst="rect">
            <a:avLst/>
          </a:prstGeom>
        </p:spPr>
      </p:pic>
      <p:pic>
        <p:nvPicPr>
          <p:cNvPr id="24" name="Image 17" descr="preencoded.png">    </p:cNvPr>
          <p:cNvPicPr>
            <a:picLocks noChangeAspect="1"/>
          </p:cNvPicPr>
          <p:nvPr/>
        </p:nvPicPr>
        <p:blipFill>
          <a:blip r:embed="rId18"/>
          <a:stretch>
            <a:fillRect/>
          </a:stretch>
        </p:blipFill>
        <p:spPr>
          <a:xfrm>
            <a:off x="6630079" y="594017"/>
            <a:ext cx="172529" cy="163201"/>
          </a:xfrm>
          <a:prstGeom prst="rect">
            <a:avLst/>
          </a:prstGeom>
        </p:spPr>
      </p:pic>
      <p:pic>
        <p:nvPicPr>
          <p:cNvPr id="25" name="Image 18" descr="preencoded.png">    </p:cNvPr>
          <p:cNvPicPr>
            <a:picLocks noChangeAspect="1"/>
          </p:cNvPicPr>
          <p:nvPr/>
        </p:nvPicPr>
        <p:blipFill>
          <a:blip r:embed="rId19"/>
          <a:stretch>
            <a:fillRect/>
          </a:stretch>
        </p:blipFill>
        <p:spPr>
          <a:xfrm>
            <a:off x="4261345" y="850475"/>
            <a:ext cx="1785881" cy="1070129"/>
          </a:xfrm>
          <a:prstGeom prst="rect">
            <a:avLst/>
          </a:prstGeom>
        </p:spPr>
      </p:pic>
      <p:pic>
        <p:nvPicPr>
          <p:cNvPr id="26" name="Image 19" descr="preencoded.png">    </p:cNvPr>
          <p:cNvPicPr>
            <a:picLocks noChangeAspect="1"/>
          </p:cNvPicPr>
          <p:nvPr/>
        </p:nvPicPr>
        <p:blipFill>
          <a:blip r:embed="rId20"/>
          <a:stretch>
            <a:fillRect/>
          </a:stretch>
        </p:blipFill>
        <p:spPr>
          <a:xfrm>
            <a:off x="4261345" y="1969564"/>
            <a:ext cx="1785881" cy="1070129"/>
          </a:xfrm>
          <a:prstGeom prst="rect">
            <a:avLst/>
          </a:prstGeom>
        </p:spPr>
      </p:pic>
      <p:pic>
        <p:nvPicPr>
          <p:cNvPr id="27" name="Image 20" descr="preencoded.png">    </p:cNvPr>
          <p:cNvPicPr>
            <a:picLocks noChangeAspect="1"/>
          </p:cNvPicPr>
          <p:nvPr/>
        </p:nvPicPr>
        <p:blipFill>
          <a:blip r:embed="rId21"/>
          <a:stretch>
            <a:fillRect/>
          </a:stretch>
        </p:blipFill>
        <p:spPr>
          <a:xfrm>
            <a:off x="4261345" y="3088654"/>
            <a:ext cx="1785881" cy="1070129"/>
          </a:xfrm>
          <a:prstGeom prst="rect">
            <a:avLst/>
          </a:prstGeom>
        </p:spPr>
      </p:pic>
      <p:pic>
        <p:nvPicPr>
          <p:cNvPr id="28" name="Image 21" descr="preencoded.png">    </p:cNvPr>
          <p:cNvPicPr>
            <a:picLocks noChangeAspect="1"/>
          </p:cNvPicPr>
          <p:nvPr/>
        </p:nvPicPr>
        <p:blipFill>
          <a:blip r:embed="rId22"/>
          <a:stretch>
            <a:fillRect/>
          </a:stretch>
        </p:blipFill>
        <p:spPr>
          <a:xfrm>
            <a:off x="5846713" y="612668"/>
            <a:ext cx="177757" cy="98043"/>
          </a:xfrm>
          <a:prstGeom prst="rect">
            <a:avLst/>
          </a:prstGeom>
        </p:spPr>
      </p:pic>
      <p:pic>
        <p:nvPicPr>
          <p:cNvPr id="29" name="Image 22" descr="preencoded.png">    </p:cNvPr>
          <p:cNvPicPr>
            <a:picLocks noChangeAspect="1"/>
          </p:cNvPicPr>
          <p:nvPr/>
        </p:nvPicPr>
        <p:blipFill>
          <a:blip r:embed="rId23"/>
          <a:stretch>
            <a:fillRect/>
          </a:stretch>
        </p:blipFill>
        <p:spPr>
          <a:xfrm>
            <a:off x="4298635" y="566040"/>
            <a:ext cx="1466469" cy="202835"/>
          </a:xfrm>
          <a:prstGeom prst="rect">
            <a:avLst/>
          </a:prstGeom>
        </p:spPr>
      </p:pic>
      <p:pic>
        <p:nvPicPr>
          <p:cNvPr id="30" name="Image 23" descr="preencoded.png">    </p:cNvPr>
          <p:cNvPicPr>
            <a:picLocks noChangeAspect="1"/>
          </p:cNvPicPr>
          <p:nvPr/>
        </p:nvPicPr>
        <p:blipFill>
          <a:blip r:embed="rId24"/>
          <a:stretch>
            <a:fillRect/>
          </a:stretch>
        </p:blipFill>
        <p:spPr>
          <a:xfrm>
            <a:off x="4321959" y="4277687"/>
            <a:ext cx="153088" cy="189795"/>
          </a:xfrm>
          <a:prstGeom prst="rect">
            <a:avLst/>
          </a:prstGeom>
        </p:spPr>
      </p:pic>
      <p:pic>
        <p:nvPicPr>
          <p:cNvPr id="31" name="Image 24" descr="preencoded.png">    </p:cNvPr>
          <p:cNvPicPr>
            <a:picLocks noChangeAspect="1"/>
          </p:cNvPicPr>
          <p:nvPr/>
        </p:nvPicPr>
        <p:blipFill>
          <a:blip r:embed="rId25"/>
          <a:stretch>
            <a:fillRect/>
          </a:stretch>
        </p:blipFill>
        <p:spPr>
          <a:xfrm>
            <a:off x="4760268" y="4263698"/>
            <a:ext cx="223819" cy="223818"/>
          </a:xfrm>
          <a:prstGeom prst="rect">
            <a:avLst/>
          </a:prstGeom>
        </p:spPr>
      </p:pic>
      <p:pic>
        <p:nvPicPr>
          <p:cNvPr id="32" name="Image 25" descr="preencoded.png">    </p:cNvPr>
          <p:cNvPicPr>
            <a:picLocks noChangeAspect="1"/>
          </p:cNvPicPr>
          <p:nvPr/>
        </p:nvPicPr>
        <p:blipFill>
          <a:blip r:embed="rId26"/>
          <a:stretch>
            <a:fillRect/>
          </a:stretch>
        </p:blipFill>
        <p:spPr>
          <a:xfrm>
            <a:off x="5762783" y="4291675"/>
            <a:ext cx="195841" cy="195841"/>
          </a:xfrm>
          <a:prstGeom prst="rect">
            <a:avLst/>
          </a:prstGeom>
        </p:spPr>
      </p:pic>
      <p:pic>
        <p:nvPicPr>
          <p:cNvPr id="33" name="Image 26" descr="preencoded.png">    </p:cNvPr>
          <p:cNvPicPr>
            <a:picLocks noChangeAspect="1"/>
          </p:cNvPicPr>
          <p:nvPr/>
        </p:nvPicPr>
        <p:blipFill>
          <a:blip r:embed="rId27"/>
          <a:stretch>
            <a:fillRect/>
          </a:stretch>
        </p:blipFill>
        <p:spPr>
          <a:xfrm>
            <a:off x="5277855" y="4259035"/>
            <a:ext cx="242469" cy="242470"/>
          </a:xfrm>
          <a:prstGeom prst="rect">
            <a:avLst/>
          </a:prstGeom>
        </p:spPr>
      </p:pic>
      <p:sp>
        <p:nvSpPr>
          <p:cNvPr id="34" name="Text 5"/>
          <p:cNvSpPr/>
          <p:nvPr/>
        </p:nvSpPr>
        <p:spPr>
          <a:xfrm>
            <a:off x="476250" y="1388269"/>
            <a:ext cx="4076700" cy="395288"/>
          </a:xfrm>
          <a:prstGeom prst="rect">
            <a:avLst/>
          </a:prstGeom>
          <a:noFill/>
          <a:ln/>
        </p:spPr>
        <p:txBody>
          <a:bodyPr wrap="square" rtlCol="0" anchor="ctr"/>
          <a:lstStyle/>
          <a:p>
            <a:pPr algn="l" indent="0" marL="0">
              <a:lnSpc>
                <a:spcPts val="3120"/>
              </a:lnSpc>
              <a:buNone/>
            </a:pPr>
            <a:r>
              <a:rPr lang="en-US" sz="2400" spc="-53" kern="0" dirty="0">
                <a:solidFill>
                  <a:srgbClr val="FFFFFF">
                    <a:alpha val="99000"/>
                  </a:srgbClr>
                </a:solidFill>
                <a:latin typeface="IBM Plex Sans" pitchFamily="34" charset="0"/>
                <a:ea typeface="IBM Plex Sans" pitchFamily="34" charset="-122"/>
                <a:cs typeface="IBM Plex Sans" pitchFamily="34" charset="-120"/>
              </a:rPr>
              <a:t>Wireframes</a:t>
            </a:r>
            <a:endParaRPr lang="en-US" sz="2400" dirty="0"/>
          </a:p>
        </p:txBody>
      </p:sp>
      <p:sp>
        <p:nvSpPr>
          <p:cNvPr id="35" name="Text 6"/>
          <p:cNvSpPr/>
          <p:nvPr/>
        </p:nvSpPr>
        <p:spPr>
          <a:xfrm>
            <a:off x="476250" y="1926431"/>
            <a:ext cx="4076700" cy="1828800"/>
          </a:xfrm>
          <a:prstGeom prst="rect">
            <a:avLst/>
          </a:prstGeom>
          <a:noFill/>
          <a:ln/>
        </p:spPr>
        <p:txBody>
          <a:bodyPr wrap="square" rtlCol="0" anchor="ctr"/>
          <a:lstStyle/>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Our initial concept of the app could include a search bar at the top of the screen, allow users to search for events using key words and phrases.</a:t>
            </a:r>
            <a:endParaRPr lang="en-US" sz="1200" dirty="0"/>
          </a:p>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When users click on an event card, it brings up a detailed events page with the option to join or share the event using the buttons at the bottom of the interface.</a:t>
            </a:r>
            <a:endParaRPr lang="en-US" sz="1200" dirty="0"/>
          </a:p>
        </p:txBody>
      </p:sp>
      <p:sp>
        <p:nvSpPr>
          <p:cNvPr id="36" name="Text 7"/>
          <p:cNvSpPr/>
          <p:nvPr/>
        </p:nvSpPr>
        <p:spPr>
          <a:xfrm>
            <a:off x="6681369" y="3545615"/>
            <a:ext cx="653041" cy="195263"/>
          </a:xfrm>
          <a:prstGeom prst="rect">
            <a:avLst/>
          </a:prstGeom>
          <a:noFill/>
          <a:ln/>
        </p:spPr>
        <p:txBody>
          <a:bodyPr wrap="square" rtlCol="0" anchor="ctr"/>
          <a:lstStyle/>
          <a:p>
            <a:pPr algn="ctr" indent="0" marL="0">
              <a:lnSpc>
                <a:spcPts val="1521"/>
              </a:lnSpc>
              <a:buNone/>
            </a:pPr>
            <a:r>
              <a:rPr lang="en-US" sz="881" dirty="0">
                <a:solidFill>
                  <a:srgbClr val="131313">
                    <a:alpha val="99000"/>
                  </a:srgbClr>
                </a:solidFill>
                <a:latin typeface="Loved by the King" pitchFamily="34" charset="0"/>
                <a:ea typeface="Loved by the King" pitchFamily="34" charset="-122"/>
                <a:cs typeface="Loved by the King" pitchFamily="34" charset="-120"/>
              </a:rPr>
              <a:t>Details</a:t>
            </a:r>
            <a:endParaRPr lang="en-US" sz="881" dirty="0"/>
          </a:p>
        </p:txBody>
      </p:sp>
      <p:sp>
        <p:nvSpPr>
          <p:cNvPr id="37" name="Text 8"/>
          <p:cNvSpPr/>
          <p:nvPr/>
        </p:nvSpPr>
        <p:spPr>
          <a:xfrm>
            <a:off x="6686048" y="2641018"/>
            <a:ext cx="806915" cy="195263"/>
          </a:xfrm>
          <a:prstGeom prst="rect">
            <a:avLst/>
          </a:prstGeom>
          <a:noFill/>
          <a:ln/>
        </p:spPr>
        <p:txBody>
          <a:bodyPr wrap="square" rtlCol="0" anchor="ctr"/>
          <a:lstStyle/>
          <a:p>
            <a:pPr algn="ctr" indent="0" marL="0">
              <a:lnSpc>
                <a:spcPts val="1521"/>
              </a:lnSpc>
              <a:buNone/>
            </a:pPr>
            <a:r>
              <a:rPr lang="en-US" sz="881" dirty="0">
                <a:solidFill>
                  <a:srgbClr val="131313">
                    <a:alpha val="99000"/>
                  </a:srgbClr>
                </a:solidFill>
                <a:latin typeface="Loved by the King" pitchFamily="34" charset="0"/>
                <a:ea typeface="Loved by the King" pitchFamily="34" charset="-122"/>
                <a:cs typeface="Loved by the King" pitchFamily="34" charset="-120"/>
              </a:rPr>
              <a:t>Event Title</a:t>
            </a:r>
            <a:endParaRPr lang="en-US" sz="88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61D"/>
        </a:solidFill>
      </p:bgPr>
    </p:bg>
    <p:spTree>
      <p:nvGrpSpPr>
        <p:cNvPr id="1" name=""/>
        <p:cNvGrpSpPr/>
        <p:nvPr/>
      </p:nvGrpSpPr>
      <p:grpSpPr>
        <a:xfrm>
          <a:off x="0" y="0"/>
          <a:ext cx="0" cy="0"/>
          <a:chOff x="0" y="0"/>
          <a:chExt cx="0" cy="0"/>
        </a:xfrm>
      </p:grpSpPr>
      <p:sp>
        <p:nvSpPr>
          <p:cNvPr id="2" name="Shape 0"/>
          <p:cNvSpPr/>
          <p:nvPr/>
        </p:nvSpPr>
        <p:spPr>
          <a:xfrm>
            <a:off x="0" y="3824288"/>
            <a:ext cx="3133725" cy="1319213"/>
          </a:xfrm>
          <a:prstGeom prst="rect">
            <a:avLst/>
          </a:prstGeom>
          <a:solidFill>
            <a:srgbClr val="000911">
              <a:alpha val="0"/>
            </a:srgbClr>
          </a:solidFill>
          <a:ln/>
        </p:spPr>
      </p:sp>
      <p:sp>
        <p:nvSpPr>
          <p:cNvPr id="3" name="Shape 1"/>
          <p:cNvSpPr/>
          <p:nvPr/>
        </p:nvSpPr>
        <p:spPr>
          <a:xfrm>
            <a:off x="3538538" y="1762125"/>
            <a:ext cx="5219700" cy="885825"/>
          </a:xfrm>
          <a:prstGeom prst="rect">
            <a:avLst/>
          </a:prstGeom>
          <a:noFill/>
          <a:ln/>
        </p:spPr>
      </p:sp>
      <p:sp>
        <p:nvSpPr>
          <p:cNvPr id="4" name="Shape 2"/>
          <p:cNvSpPr/>
          <p:nvPr/>
        </p:nvSpPr>
        <p:spPr>
          <a:xfrm>
            <a:off x="3538538" y="3000375"/>
            <a:ext cx="2319338" cy="1590675"/>
          </a:xfrm>
          <a:prstGeom prst="rect">
            <a:avLst/>
          </a:prstGeom>
          <a:noFill/>
          <a:ln/>
        </p:spPr>
      </p:sp>
      <p:sp>
        <p:nvSpPr>
          <p:cNvPr id="5" name="Shape 3"/>
          <p:cNvSpPr/>
          <p:nvPr/>
        </p:nvSpPr>
        <p:spPr>
          <a:xfrm>
            <a:off x="6076950" y="2976563"/>
            <a:ext cx="2681288" cy="1571625"/>
          </a:xfrm>
          <a:prstGeom prst="rect">
            <a:avLst/>
          </a:prstGeom>
          <a:noFill/>
          <a:ln/>
        </p:spPr>
      </p:sp>
      <p:sp>
        <p:nvSpPr>
          <p:cNvPr id="6" name="Shape 4"/>
          <p:cNvSpPr/>
          <p:nvPr/>
        </p:nvSpPr>
        <p:spPr>
          <a:xfrm>
            <a:off x="3538538" y="1147763"/>
            <a:ext cx="638175" cy="228600"/>
          </a:xfrm>
          <a:prstGeom prst="rect">
            <a:avLst/>
          </a:prstGeom>
          <a:noFill/>
          <a:ln/>
        </p:spPr>
      </p:sp>
      <p:sp>
        <p:nvSpPr>
          <p:cNvPr id="7" name="Shape 5"/>
          <p:cNvSpPr/>
          <p:nvPr/>
        </p:nvSpPr>
        <p:spPr>
          <a:xfrm>
            <a:off x="5081588" y="1147763"/>
            <a:ext cx="1304925" cy="228600"/>
          </a:xfrm>
          <a:prstGeom prst="rect">
            <a:avLst/>
          </a:prstGeom>
          <a:noFill/>
          <a:ln/>
        </p:spPr>
      </p:sp>
      <p:sp>
        <p:nvSpPr>
          <p:cNvPr id="8" name="Shape 6"/>
          <p:cNvSpPr/>
          <p:nvPr/>
        </p:nvSpPr>
        <p:spPr>
          <a:xfrm>
            <a:off x="3538538" y="1376363"/>
            <a:ext cx="995363" cy="228600"/>
          </a:xfrm>
          <a:prstGeom prst="rect">
            <a:avLst/>
          </a:prstGeom>
          <a:noFill/>
          <a:ln/>
        </p:spPr>
      </p:sp>
      <p:sp>
        <p:nvSpPr>
          <p:cNvPr id="9" name="Shape 7"/>
          <p:cNvSpPr/>
          <p:nvPr/>
        </p:nvSpPr>
        <p:spPr>
          <a:xfrm>
            <a:off x="5091113" y="1376363"/>
            <a:ext cx="1666875" cy="228600"/>
          </a:xfrm>
          <a:prstGeom prst="rect">
            <a:avLst/>
          </a:prstGeom>
          <a:noFill/>
          <a:ln/>
        </p:spPr>
      </p:sp>
      <p:sp>
        <p:nvSpPr>
          <p:cNvPr id="10" name="Shape 8"/>
          <p:cNvSpPr/>
          <p:nvPr/>
        </p:nvSpPr>
        <p:spPr>
          <a:xfrm>
            <a:off x="152400" y="3976687"/>
            <a:ext cx="2828925" cy="766763"/>
          </a:xfrm>
          <a:prstGeom prst="rect">
            <a:avLst/>
          </a:prstGeom>
          <a:noFill/>
          <a:ln/>
        </p:spPr>
      </p:sp>
      <p:sp>
        <p:nvSpPr>
          <p:cNvPr id="11" name="Shape 9"/>
          <p:cNvSpPr/>
          <p:nvPr/>
        </p:nvSpPr>
        <p:spPr>
          <a:xfrm>
            <a:off x="152400" y="4391025"/>
            <a:ext cx="2828925" cy="352425"/>
          </a:xfrm>
          <a:prstGeom prst="rect">
            <a:avLst/>
          </a:prstGeom>
          <a:noFill/>
          <a:ln/>
        </p:spPr>
      </p:sp>
      <p:pic>
        <p:nvPicPr>
          <p:cNvPr id="12" name="Image 0" descr="preencoded.png">    </p:cNvPr>
          <p:cNvPicPr>
            <a:picLocks noChangeAspect="1"/>
          </p:cNvPicPr>
          <p:nvPr/>
        </p:nvPicPr>
        <p:blipFill>
          <a:blip r:embed="rId1"/>
          <a:stretch>
            <a:fillRect/>
          </a:stretch>
        </p:blipFill>
        <p:spPr>
          <a:xfrm>
            <a:off x="0" y="0"/>
            <a:ext cx="3133725" cy="5143500"/>
          </a:xfrm>
          <a:prstGeom prst="rect">
            <a:avLst/>
          </a:prstGeom>
        </p:spPr>
      </p:pic>
      <p:sp>
        <p:nvSpPr>
          <p:cNvPr id="13" name="Text 10"/>
          <p:cNvSpPr/>
          <p:nvPr/>
        </p:nvSpPr>
        <p:spPr>
          <a:xfrm>
            <a:off x="3519488" y="595313"/>
            <a:ext cx="2867025" cy="395288"/>
          </a:xfrm>
          <a:prstGeom prst="rect">
            <a:avLst/>
          </a:prstGeom>
          <a:noFill/>
          <a:ln/>
        </p:spPr>
        <p:txBody>
          <a:bodyPr wrap="square" rtlCol="0" anchor="ctr"/>
          <a:lstStyle/>
          <a:p>
            <a:pPr algn="r" indent="0" marL="0">
              <a:lnSpc>
                <a:spcPts val="3120"/>
              </a:lnSpc>
              <a:buNone/>
            </a:pPr>
            <a:r>
              <a:rPr lang="en-US" sz="2400" b="1" spc="-53" kern="0" dirty="0">
                <a:solidFill>
                  <a:srgbClr val="FBFBFB">
                    <a:alpha val="99000"/>
                  </a:srgbClr>
                </a:solidFill>
                <a:latin typeface="IBM Plex Sans" pitchFamily="34" charset="0"/>
                <a:ea typeface="IBM Plex Sans" pitchFamily="34" charset="-122"/>
                <a:cs typeface="IBM Plex Sans" pitchFamily="34" charset="-120"/>
              </a:rPr>
              <a:t>More Information</a:t>
            </a:r>
            <a:endParaRPr lang="en-US" sz="2400" dirty="0"/>
          </a:p>
        </p:txBody>
      </p:sp>
      <p:sp>
        <p:nvSpPr>
          <p:cNvPr id="14" name="Text 11"/>
          <p:cNvSpPr/>
          <p:nvPr/>
        </p:nvSpPr>
        <p:spPr>
          <a:xfrm>
            <a:off x="5091113" y="1376363"/>
            <a:ext cx="1085850" cy="228600"/>
          </a:xfrm>
          <a:prstGeom prst="rect">
            <a:avLst/>
          </a:prstGeom>
          <a:noFill/>
          <a:ln/>
        </p:spPr>
        <p:txBody>
          <a:bodyPr wrap="square" rtlCol="0" anchor="ctr"/>
          <a:lstStyle/>
          <a:p>
            <a:pPr algn="r" indent="0" marL="0">
              <a:lnSpc>
                <a:spcPts val="1800"/>
              </a:lnSpc>
              <a:buNone/>
            </a:pPr>
            <a:r>
              <a:rPr lang="en-US" sz="1200" dirty="0">
                <a:solidFill>
                  <a:srgbClr val="FBFBFB">
                    <a:alpha val="99000"/>
                  </a:srgbClr>
                </a:solidFill>
                <a:latin typeface="IBM Plex Sans" pitchFamily="34" charset="0"/>
                <a:ea typeface="IBM Plex Sans" pitchFamily="34" charset="-122"/>
                <a:cs typeface="IBM Plex Sans" pitchFamily="34" charset="-120"/>
              </a:rPr>
              <a:t>Location:</a:t>
            </a:r>
            <a:endParaRPr lang="en-US" sz="1200" dirty="0"/>
          </a:p>
        </p:txBody>
      </p:sp>
      <p:sp>
        <p:nvSpPr>
          <p:cNvPr id="15" name="Text 12"/>
          <p:cNvSpPr/>
          <p:nvPr/>
        </p:nvSpPr>
        <p:spPr>
          <a:xfrm>
            <a:off x="5791200" y="1376363"/>
            <a:ext cx="1423988" cy="228600"/>
          </a:xfrm>
          <a:prstGeom prst="rect">
            <a:avLst/>
          </a:prstGeom>
          <a:noFill/>
          <a:ln/>
        </p:spPr>
        <p:txBody>
          <a:bodyPr wrap="square" rtlCol="0" anchor="ctr"/>
          <a:lstStyle/>
          <a:p>
            <a:pPr algn="l" indent="0" marL="0">
              <a:lnSpc>
                <a:spcPts val="1800"/>
              </a:lnSpc>
              <a:buNone/>
            </a:pPr>
            <a:r>
              <a:rPr lang="en-US" sz="1200" dirty="0">
                <a:solidFill>
                  <a:srgbClr val="FBFBFB">
                    <a:alpha val="99000"/>
                  </a:srgbClr>
                </a:solidFill>
                <a:latin typeface="IBM Plex Sans" pitchFamily="34" charset="0"/>
                <a:ea typeface="IBM Plex Sans" pitchFamily="34" charset="-122"/>
                <a:cs typeface="IBM Plex Sans" pitchFamily="34" charset="-120"/>
              </a:rPr>
              <a:t>Richmond, BC</a:t>
            </a:r>
            <a:endParaRPr lang="en-US" sz="1200" dirty="0"/>
          </a:p>
        </p:txBody>
      </p:sp>
      <p:sp>
        <p:nvSpPr>
          <p:cNvPr id="16" name="Text 13"/>
          <p:cNvSpPr/>
          <p:nvPr/>
        </p:nvSpPr>
        <p:spPr>
          <a:xfrm>
            <a:off x="3538538" y="1376363"/>
            <a:ext cx="942975" cy="228600"/>
          </a:xfrm>
          <a:prstGeom prst="rect">
            <a:avLst/>
          </a:prstGeom>
          <a:noFill/>
          <a:ln/>
        </p:spPr>
        <p:txBody>
          <a:bodyPr wrap="square" rtlCol="0" anchor="ctr"/>
          <a:lstStyle/>
          <a:p>
            <a:pPr algn="r" indent="0" marL="0">
              <a:lnSpc>
                <a:spcPts val="1800"/>
              </a:lnSpc>
              <a:buNone/>
            </a:pPr>
            <a:r>
              <a:rPr lang="en-US" sz="1200" dirty="0">
                <a:solidFill>
                  <a:srgbClr val="FBFBFB">
                    <a:alpha val="99000"/>
                  </a:srgbClr>
                </a:solidFill>
                <a:latin typeface="IBM Plex Sans" pitchFamily="34" charset="0"/>
                <a:ea typeface="IBM Plex Sans" pitchFamily="34" charset="-122"/>
                <a:cs typeface="IBM Plex Sans" pitchFamily="34" charset="-120"/>
              </a:rPr>
              <a:t>Status:</a:t>
            </a:r>
            <a:endParaRPr lang="en-US" sz="1200" dirty="0"/>
          </a:p>
        </p:txBody>
      </p:sp>
      <p:sp>
        <p:nvSpPr>
          <p:cNvPr id="17" name="Text 14"/>
          <p:cNvSpPr/>
          <p:nvPr/>
        </p:nvSpPr>
        <p:spPr>
          <a:xfrm>
            <a:off x="4114800" y="1376363"/>
            <a:ext cx="876300" cy="228600"/>
          </a:xfrm>
          <a:prstGeom prst="rect">
            <a:avLst/>
          </a:prstGeom>
          <a:noFill/>
          <a:ln/>
        </p:spPr>
        <p:txBody>
          <a:bodyPr wrap="square" rtlCol="0" anchor="ctr"/>
          <a:lstStyle/>
          <a:p>
            <a:pPr algn="l" indent="0" marL="0">
              <a:lnSpc>
                <a:spcPts val="1800"/>
              </a:lnSpc>
              <a:buNone/>
            </a:pPr>
            <a:r>
              <a:rPr lang="en-US" sz="1200" dirty="0">
                <a:solidFill>
                  <a:srgbClr val="FBFBFB">
                    <a:alpha val="99000"/>
                  </a:srgbClr>
                </a:solidFill>
                <a:latin typeface="IBM Plex Sans" pitchFamily="34" charset="0"/>
                <a:ea typeface="IBM Plex Sans" pitchFamily="34" charset="-122"/>
                <a:cs typeface="IBM Plex Sans" pitchFamily="34" charset="-120"/>
              </a:rPr>
              <a:t>Single</a:t>
            </a:r>
            <a:endParaRPr lang="en-US" sz="1200" dirty="0"/>
          </a:p>
        </p:txBody>
      </p:sp>
      <p:sp>
        <p:nvSpPr>
          <p:cNvPr id="18" name="Text 15"/>
          <p:cNvSpPr/>
          <p:nvPr/>
        </p:nvSpPr>
        <p:spPr>
          <a:xfrm>
            <a:off x="5081588" y="1147763"/>
            <a:ext cx="1185863" cy="228600"/>
          </a:xfrm>
          <a:prstGeom prst="rect">
            <a:avLst/>
          </a:prstGeom>
          <a:noFill/>
          <a:ln/>
        </p:spPr>
        <p:txBody>
          <a:bodyPr wrap="square" rtlCol="0" anchor="ctr"/>
          <a:lstStyle/>
          <a:p>
            <a:pPr algn="r" indent="0" marL="0">
              <a:lnSpc>
                <a:spcPts val="1800"/>
              </a:lnSpc>
              <a:buNone/>
            </a:pPr>
            <a:r>
              <a:rPr lang="en-US" sz="1200" dirty="0">
                <a:solidFill>
                  <a:srgbClr val="FBFBFB">
                    <a:alpha val="99000"/>
                  </a:srgbClr>
                </a:solidFill>
                <a:latin typeface="IBM Plex Sans" pitchFamily="34" charset="0"/>
                <a:ea typeface="IBM Plex Sans" pitchFamily="34" charset="-122"/>
                <a:cs typeface="IBM Plex Sans" pitchFamily="34" charset="-120"/>
              </a:rPr>
              <a:t>Education:</a:t>
            </a:r>
            <a:endParaRPr lang="en-US" sz="1200" dirty="0"/>
          </a:p>
        </p:txBody>
      </p:sp>
      <p:sp>
        <p:nvSpPr>
          <p:cNvPr id="19" name="Text 16"/>
          <p:cNvSpPr/>
          <p:nvPr/>
        </p:nvSpPr>
        <p:spPr>
          <a:xfrm>
            <a:off x="5919788" y="1147763"/>
            <a:ext cx="923925" cy="228600"/>
          </a:xfrm>
          <a:prstGeom prst="rect">
            <a:avLst/>
          </a:prstGeom>
          <a:noFill/>
          <a:ln/>
        </p:spPr>
        <p:txBody>
          <a:bodyPr wrap="square" rtlCol="0" anchor="ctr"/>
          <a:lstStyle/>
          <a:p>
            <a:pPr algn="l" indent="0" marL="0">
              <a:lnSpc>
                <a:spcPts val="1800"/>
              </a:lnSpc>
              <a:buNone/>
            </a:pPr>
            <a:r>
              <a:rPr lang="en-US" sz="1200" dirty="0">
                <a:solidFill>
                  <a:srgbClr val="FBFBFB">
                    <a:alpha val="99000"/>
                  </a:srgbClr>
                </a:solidFill>
                <a:latin typeface="IBM Plex Sans" pitchFamily="34" charset="0"/>
                <a:ea typeface="IBM Plex Sans" pitchFamily="34" charset="-122"/>
                <a:cs typeface="IBM Plex Sans" pitchFamily="34" charset="-120"/>
              </a:rPr>
              <a:t>Design</a:t>
            </a:r>
            <a:endParaRPr lang="en-US" sz="1200" dirty="0"/>
          </a:p>
        </p:txBody>
      </p:sp>
      <p:sp>
        <p:nvSpPr>
          <p:cNvPr id="20" name="Text 17"/>
          <p:cNvSpPr/>
          <p:nvPr/>
        </p:nvSpPr>
        <p:spPr>
          <a:xfrm>
            <a:off x="3538538" y="1147763"/>
            <a:ext cx="766763" cy="228600"/>
          </a:xfrm>
          <a:prstGeom prst="rect">
            <a:avLst/>
          </a:prstGeom>
          <a:noFill/>
          <a:ln/>
        </p:spPr>
        <p:txBody>
          <a:bodyPr wrap="square" rtlCol="0" anchor="ctr"/>
          <a:lstStyle/>
          <a:p>
            <a:pPr algn="r" indent="0" marL="0">
              <a:lnSpc>
                <a:spcPts val="1800"/>
              </a:lnSpc>
              <a:buNone/>
            </a:pPr>
            <a:r>
              <a:rPr lang="en-US" sz="1200" dirty="0">
                <a:solidFill>
                  <a:srgbClr val="FBFBFB">
                    <a:alpha val="99000"/>
                  </a:srgbClr>
                </a:solidFill>
                <a:latin typeface="IBM Plex Sans" pitchFamily="34" charset="0"/>
                <a:ea typeface="IBM Plex Sans" pitchFamily="34" charset="-122"/>
                <a:cs typeface="IBM Plex Sans" pitchFamily="34" charset="-120"/>
              </a:rPr>
              <a:t>Age:</a:t>
            </a:r>
            <a:endParaRPr lang="en-US" sz="1200" dirty="0"/>
          </a:p>
        </p:txBody>
      </p:sp>
      <p:sp>
        <p:nvSpPr>
          <p:cNvPr id="21" name="Text 18"/>
          <p:cNvSpPr/>
          <p:nvPr/>
        </p:nvSpPr>
        <p:spPr>
          <a:xfrm>
            <a:off x="3990975" y="1147763"/>
            <a:ext cx="642938" cy="228600"/>
          </a:xfrm>
          <a:prstGeom prst="rect">
            <a:avLst/>
          </a:prstGeom>
          <a:noFill/>
          <a:ln/>
        </p:spPr>
        <p:txBody>
          <a:bodyPr wrap="square" rtlCol="0" anchor="ctr"/>
          <a:lstStyle/>
          <a:p>
            <a:pPr algn="l" indent="0" marL="0">
              <a:lnSpc>
                <a:spcPts val="1800"/>
              </a:lnSpc>
              <a:buNone/>
            </a:pPr>
            <a:r>
              <a:rPr lang="en-US" sz="1200" dirty="0">
                <a:solidFill>
                  <a:srgbClr val="FBFBFB">
                    <a:alpha val="99000"/>
                  </a:srgbClr>
                </a:solidFill>
                <a:latin typeface="IBM Plex Sans" pitchFamily="34" charset="0"/>
                <a:ea typeface="IBM Plex Sans" pitchFamily="34" charset="-122"/>
                <a:cs typeface="IBM Plex Sans" pitchFamily="34" charset="-120"/>
              </a:rPr>
              <a:t>21</a:t>
            </a:r>
            <a:endParaRPr lang="en-US" sz="1200" dirty="0"/>
          </a:p>
        </p:txBody>
      </p:sp>
      <p:sp>
        <p:nvSpPr>
          <p:cNvPr id="22" name="Text 19"/>
          <p:cNvSpPr/>
          <p:nvPr/>
        </p:nvSpPr>
        <p:spPr>
          <a:xfrm>
            <a:off x="6076950" y="2976563"/>
            <a:ext cx="1338262" cy="276225"/>
          </a:xfrm>
          <a:prstGeom prst="rect">
            <a:avLst/>
          </a:prstGeom>
          <a:noFill/>
          <a:ln/>
        </p:spPr>
        <p:txBody>
          <a:bodyPr wrap="square" rtlCol="0" anchor="ctr"/>
          <a:lstStyle/>
          <a:p>
            <a:pPr algn="l" indent="0" marL="0">
              <a:lnSpc>
                <a:spcPts val="2160"/>
              </a:lnSpc>
              <a:buNone/>
            </a:pPr>
            <a:r>
              <a:rPr lang="en-US" sz="1350" b="1" spc="-13" kern="0" dirty="0">
                <a:solidFill>
                  <a:srgbClr val="FBFBFB">
                    <a:alpha val="99000"/>
                  </a:srgbClr>
                </a:solidFill>
                <a:latin typeface="IBM Plex Sans" pitchFamily="34" charset="0"/>
                <a:ea typeface="IBM Plex Sans" pitchFamily="34" charset="-122"/>
                <a:cs typeface="IBM Plex Sans" pitchFamily="34" charset="-120"/>
              </a:rPr>
              <a:t>Frustration</a:t>
            </a:r>
            <a:endParaRPr lang="en-US" sz="1350" dirty="0"/>
          </a:p>
        </p:txBody>
      </p:sp>
      <p:sp>
        <p:nvSpPr>
          <p:cNvPr id="23" name="Text 20"/>
          <p:cNvSpPr/>
          <p:nvPr/>
        </p:nvSpPr>
        <p:spPr>
          <a:xfrm>
            <a:off x="6076950" y="3348038"/>
            <a:ext cx="3138488" cy="1200150"/>
          </a:xfrm>
          <a:prstGeom prst="rect">
            <a:avLst/>
          </a:prstGeom>
          <a:noFill/>
          <a:ln/>
        </p:spPr>
        <p:txBody>
          <a:bodyPr wrap="square" rtlCol="0" anchor="ctr"/>
          <a:lstStyle/>
          <a:p>
            <a:pPr algn="l" indent="0" marL="0">
              <a:lnSpc>
                <a:spcPts val="1350"/>
              </a:lnSpc>
              <a:buNone/>
            </a:pPr>
            <a:r>
              <a:rPr lang="en-US" sz="900" dirty="0">
                <a:solidFill>
                  <a:srgbClr val="FBFBFB">
                    <a:alpha val="99000"/>
                  </a:srgbClr>
                </a:solidFill>
                <a:latin typeface="IBM Plex Sans" pitchFamily="34" charset="0"/>
                <a:ea typeface="IBM Plex Sans" pitchFamily="34" charset="-122"/>
                <a:cs typeface="IBM Plex Sans" pitchFamily="34" charset="-120"/>
              </a:rPr>
              <a:t>Neville often feels frustrated because event details at KPU are scattered across different platforms, making it hard to know what’s happening and where. He also worries about showing up alone, struggles with transportation between campuses, and sometimes hesitates to join conversations due to language and cultural barriers.</a:t>
            </a:r>
            <a:endParaRPr lang="en-US" sz="900" dirty="0"/>
          </a:p>
        </p:txBody>
      </p:sp>
      <p:sp>
        <p:nvSpPr>
          <p:cNvPr id="24" name="Text 21"/>
          <p:cNvSpPr/>
          <p:nvPr/>
        </p:nvSpPr>
        <p:spPr>
          <a:xfrm>
            <a:off x="3538538" y="3000375"/>
            <a:ext cx="909638" cy="276225"/>
          </a:xfrm>
          <a:prstGeom prst="rect">
            <a:avLst/>
          </a:prstGeom>
          <a:noFill/>
          <a:ln/>
        </p:spPr>
        <p:txBody>
          <a:bodyPr wrap="square" rtlCol="0" anchor="ctr"/>
          <a:lstStyle/>
          <a:p>
            <a:pPr algn="l" indent="0" marL="0">
              <a:lnSpc>
                <a:spcPts val="2160"/>
              </a:lnSpc>
              <a:buNone/>
            </a:pPr>
            <a:r>
              <a:rPr lang="en-US" sz="1350" b="1" spc="-13" kern="0" dirty="0">
                <a:solidFill>
                  <a:srgbClr val="FBFBFB">
                    <a:alpha val="99000"/>
                  </a:srgbClr>
                </a:solidFill>
                <a:latin typeface="IBM Plex Sans" pitchFamily="34" charset="0"/>
                <a:ea typeface="IBM Plex Sans" pitchFamily="34" charset="-122"/>
                <a:cs typeface="IBM Plex Sans" pitchFamily="34" charset="-120"/>
              </a:rPr>
              <a:t>Goals</a:t>
            </a:r>
            <a:endParaRPr lang="en-US" sz="1350" dirty="0"/>
          </a:p>
        </p:txBody>
      </p:sp>
      <p:sp>
        <p:nvSpPr>
          <p:cNvPr id="25" name="Text 22"/>
          <p:cNvSpPr/>
          <p:nvPr/>
        </p:nvSpPr>
        <p:spPr>
          <a:xfrm>
            <a:off x="3538538" y="3371850"/>
            <a:ext cx="2776538" cy="1219200"/>
          </a:xfrm>
          <a:prstGeom prst="rect">
            <a:avLst/>
          </a:prstGeom>
          <a:noFill/>
          <a:ln/>
        </p:spPr>
        <p:txBody>
          <a:bodyPr wrap="square" rtlCol="0" anchor="ctr"/>
          <a:lstStyle/>
          <a:p>
            <a:pPr algn="l" indent="0" marL="0">
              <a:lnSpc>
                <a:spcPts val="1200"/>
              </a:lnSpc>
              <a:buNone/>
            </a:pPr>
            <a:r>
              <a:rPr lang="en-US" sz="900" dirty="0">
                <a:solidFill>
                  <a:srgbClr val="FBFBFB">
                    <a:alpha val="99000"/>
                  </a:srgbClr>
                </a:solidFill>
                <a:latin typeface="IBM Plex Sans" pitchFamily="34" charset="0"/>
                <a:ea typeface="IBM Plex Sans" pitchFamily="34" charset="-122"/>
                <a:cs typeface="IBM Plex Sans" pitchFamily="34" charset="-120"/>
              </a:rPr>
              <a:t>Neville’s current goal is to attend events happening across KPU campuses so he can meet new people, connect with other students, and make friends. He sees campus events as a safe, fun, and structured way to break the ice, learn more about Canadian student life, and ease feelings of isolation that often come with moving abroad.</a:t>
            </a:r>
            <a:endParaRPr lang="en-US" sz="900" dirty="0"/>
          </a:p>
        </p:txBody>
      </p:sp>
      <p:sp>
        <p:nvSpPr>
          <p:cNvPr id="26" name="Text 23"/>
          <p:cNvSpPr/>
          <p:nvPr/>
        </p:nvSpPr>
        <p:spPr>
          <a:xfrm>
            <a:off x="3538538" y="1762125"/>
            <a:ext cx="1409700" cy="276225"/>
          </a:xfrm>
          <a:prstGeom prst="rect">
            <a:avLst/>
          </a:prstGeom>
          <a:noFill/>
          <a:ln/>
        </p:spPr>
        <p:txBody>
          <a:bodyPr wrap="square" rtlCol="0" anchor="ctr"/>
          <a:lstStyle/>
          <a:p>
            <a:pPr algn="l" indent="0" marL="0">
              <a:lnSpc>
                <a:spcPts val="2160"/>
              </a:lnSpc>
              <a:buNone/>
            </a:pPr>
            <a:r>
              <a:rPr lang="en-US" sz="1350" b="1" spc="-13" kern="0" dirty="0">
                <a:solidFill>
                  <a:srgbClr val="FBFBFB">
                    <a:alpha val="99000"/>
                  </a:srgbClr>
                </a:solidFill>
                <a:latin typeface="IBM Plex Sans" pitchFamily="34" charset="0"/>
                <a:ea typeface="IBM Plex Sans" pitchFamily="34" charset="-122"/>
                <a:cs typeface="IBM Plex Sans" pitchFamily="34" charset="-120"/>
              </a:rPr>
              <a:t>Background</a:t>
            </a:r>
            <a:endParaRPr lang="en-US" sz="1350" dirty="0"/>
          </a:p>
        </p:txBody>
      </p:sp>
      <p:sp>
        <p:nvSpPr>
          <p:cNvPr id="27" name="Text 24"/>
          <p:cNvSpPr/>
          <p:nvPr/>
        </p:nvSpPr>
        <p:spPr>
          <a:xfrm>
            <a:off x="3538538" y="2133600"/>
            <a:ext cx="5676900" cy="514350"/>
          </a:xfrm>
          <a:prstGeom prst="rect">
            <a:avLst/>
          </a:prstGeom>
          <a:noFill/>
          <a:ln/>
        </p:spPr>
        <p:txBody>
          <a:bodyPr wrap="square" rtlCol="0" anchor="ctr"/>
          <a:lstStyle/>
          <a:p>
            <a:pPr algn="l" indent="0" marL="0">
              <a:lnSpc>
                <a:spcPts val="1350"/>
              </a:lnSpc>
              <a:buNone/>
            </a:pPr>
            <a:r>
              <a:rPr lang="en-US" sz="900" dirty="0">
                <a:solidFill>
                  <a:srgbClr val="FBFBFB">
                    <a:alpha val="99000"/>
                  </a:srgbClr>
                </a:solidFill>
                <a:latin typeface="IBM Plex Sans" pitchFamily="34" charset="0"/>
                <a:ea typeface="IBM Plex Sans" pitchFamily="34" charset="-122"/>
                <a:cs typeface="IBM Plex Sans" pitchFamily="34" charset="-120"/>
              </a:rPr>
              <a:t>Neville is a first-time international student at Kwantlen Polytechnic University (KPU). He has recently arrived in Canada, so he’s not only adjusting to a new academic environment but also learning to navigate life in a new country. As a newcomer, John may feel a mix of excitement and uncertainty</a:t>
            </a:r>
            <a:endParaRPr lang="en-US" sz="900" dirty="0"/>
          </a:p>
        </p:txBody>
      </p:sp>
      <p:sp>
        <p:nvSpPr>
          <p:cNvPr id="28" name="Text 25"/>
          <p:cNvSpPr/>
          <p:nvPr/>
        </p:nvSpPr>
        <p:spPr>
          <a:xfrm>
            <a:off x="152400" y="3976687"/>
            <a:ext cx="3286125" cy="300038"/>
          </a:xfrm>
          <a:prstGeom prst="rect">
            <a:avLst/>
          </a:prstGeom>
          <a:noFill/>
          <a:ln/>
        </p:spPr>
        <p:txBody>
          <a:bodyPr wrap="square" rtlCol="0" anchor="ctr"/>
          <a:lstStyle/>
          <a:p>
            <a:pPr algn="l" indent="0" marL="0">
              <a:lnSpc>
                <a:spcPts val="2340"/>
              </a:lnSpc>
              <a:buNone/>
            </a:pPr>
            <a:r>
              <a:rPr lang="en-US" sz="1800" spc="-72" kern="0" dirty="0">
                <a:solidFill>
                  <a:srgbClr val="FFFFFF">
                    <a:alpha val="99000"/>
                  </a:srgbClr>
                </a:solidFill>
                <a:latin typeface="IBM Plex Sans" pitchFamily="34" charset="0"/>
                <a:ea typeface="IBM Plex Sans" pitchFamily="34" charset="-122"/>
                <a:cs typeface="IBM Plex Sans" pitchFamily="34" charset="-120"/>
              </a:rPr>
              <a:t>Neville </a:t>
            </a:r>
            <a:endParaRPr lang="en-US" sz="1800" dirty="0"/>
          </a:p>
        </p:txBody>
      </p:sp>
      <p:sp>
        <p:nvSpPr>
          <p:cNvPr id="29" name="Text 26"/>
          <p:cNvSpPr/>
          <p:nvPr/>
        </p:nvSpPr>
        <p:spPr>
          <a:xfrm>
            <a:off x="152400" y="4391025"/>
            <a:ext cx="1614488" cy="171450"/>
          </a:xfrm>
          <a:prstGeom prst="rect">
            <a:avLst/>
          </a:prstGeom>
          <a:noFill/>
          <a:ln/>
        </p:spPr>
        <p:txBody>
          <a:bodyPr wrap="square" rtlCol="0" anchor="ctr"/>
          <a:lstStyle/>
          <a:p>
            <a:pPr algn="l" indent="0" marL="0">
              <a:lnSpc>
                <a:spcPts val="1350"/>
              </a:lnSpc>
              <a:buNone/>
            </a:pPr>
            <a:r>
              <a:rPr lang="en-US" sz="900" dirty="0">
                <a:solidFill>
                  <a:srgbClr val="FFFFFF">
                    <a:alpha val="99000"/>
                  </a:srgbClr>
                </a:solidFill>
                <a:latin typeface="IBM Plex Sans" pitchFamily="34" charset="0"/>
                <a:ea typeface="IBM Plex Sans" pitchFamily="34" charset="-122"/>
                <a:cs typeface="IBM Plex Sans" pitchFamily="34" charset="-120"/>
              </a:rPr>
              <a:t>ROLE</a:t>
            </a:r>
            <a:endParaRPr lang="en-US" sz="900" dirty="0"/>
          </a:p>
        </p:txBody>
      </p:sp>
      <p:sp>
        <p:nvSpPr>
          <p:cNvPr id="30" name="Text 27"/>
          <p:cNvSpPr/>
          <p:nvPr/>
        </p:nvSpPr>
        <p:spPr>
          <a:xfrm>
            <a:off x="152400" y="4600575"/>
            <a:ext cx="1681163" cy="142875"/>
          </a:xfrm>
          <a:prstGeom prst="rect">
            <a:avLst/>
          </a:prstGeom>
          <a:noFill/>
          <a:ln/>
        </p:spPr>
        <p:txBody>
          <a:bodyPr wrap="square" rtlCol="0" anchor="ctr"/>
          <a:lstStyle/>
          <a:p>
            <a:pPr algn="l" indent="0" marL="0">
              <a:lnSpc>
                <a:spcPts val="1089"/>
              </a:lnSpc>
              <a:buNone/>
            </a:pPr>
            <a:r>
              <a:rPr lang="en-US" sz="900" b="1" dirty="0">
                <a:solidFill>
                  <a:srgbClr val="FFFFFF">
                    <a:alpha val="99000"/>
                  </a:srgbClr>
                </a:solidFill>
                <a:latin typeface="Inter" pitchFamily="34" charset="0"/>
                <a:ea typeface="Inter" pitchFamily="34" charset="-122"/>
                <a:cs typeface="Inter" pitchFamily="34" charset="-120"/>
              </a:rPr>
              <a:t>International Student </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61D"/>
        </a:solidFill>
      </p:bgPr>
    </p:bg>
    <p:spTree>
      <p:nvGrpSpPr>
        <p:cNvPr id="1" name=""/>
        <p:cNvGrpSpPr/>
        <p:nvPr/>
      </p:nvGrpSpPr>
      <p:grpSpPr>
        <a:xfrm>
          <a:off x="0" y="0"/>
          <a:ext cx="0" cy="0"/>
          <a:chOff x="0" y="0"/>
          <a:chExt cx="0" cy="0"/>
        </a:xfrm>
      </p:grpSpPr>
      <p:sp>
        <p:nvSpPr>
          <p:cNvPr id="2" name="Shape 0"/>
          <p:cNvSpPr/>
          <p:nvPr/>
        </p:nvSpPr>
        <p:spPr>
          <a:xfrm>
            <a:off x="3538538" y="1762125"/>
            <a:ext cx="5219700" cy="1057275"/>
          </a:xfrm>
          <a:prstGeom prst="rect">
            <a:avLst/>
          </a:prstGeom>
          <a:noFill/>
          <a:ln/>
        </p:spPr>
      </p:sp>
      <p:sp>
        <p:nvSpPr>
          <p:cNvPr id="3" name="Shape 1"/>
          <p:cNvSpPr/>
          <p:nvPr/>
        </p:nvSpPr>
        <p:spPr>
          <a:xfrm>
            <a:off x="3538538" y="3000375"/>
            <a:ext cx="2319338" cy="1400175"/>
          </a:xfrm>
          <a:prstGeom prst="rect">
            <a:avLst/>
          </a:prstGeom>
          <a:noFill/>
          <a:ln/>
        </p:spPr>
      </p:sp>
      <p:sp>
        <p:nvSpPr>
          <p:cNvPr id="4" name="Shape 2"/>
          <p:cNvSpPr/>
          <p:nvPr/>
        </p:nvSpPr>
        <p:spPr>
          <a:xfrm>
            <a:off x="6076950" y="2976563"/>
            <a:ext cx="2681288" cy="1571625"/>
          </a:xfrm>
          <a:prstGeom prst="rect">
            <a:avLst/>
          </a:prstGeom>
          <a:noFill/>
          <a:ln/>
        </p:spPr>
      </p:sp>
      <p:sp>
        <p:nvSpPr>
          <p:cNvPr id="5" name="Shape 3"/>
          <p:cNvSpPr/>
          <p:nvPr/>
        </p:nvSpPr>
        <p:spPr>
          <a:xfrm>
            <a:off x="3538538" y="1147763"/>
            <a:ext cx="638175" cy="228600"/>
          </a:xfrm>
          <a:prstGeom prst="rect">
            <a:avLst/>
          </a:prstGeom>
          <a:noFill/>
          <a:ln/>
        </p:spPr>
      </p:sp>
      <p:sp>
        <p:nvSpPr>
          <p:cNvPr id="6" name="Shape 4"/>
          <p:cNvSpPr/>
          <p:nvPr/>
        </p:nvSpPr>
        <p:spPr>
          <a:xfrm>
            <a:off x="5081588" y="1147763"/>
            <a:ext cx="1652588" cy="228600"/>
          </a:xfrm>
          <a:prstGeom prst="rect">
            <a:avLst/>
          </a:prstGeom>
          <a:noFill/>
          <a:ln/>
        </p:spPr>
      </p:sp>
      <p:sp>
        <p:nvSpPr>
          <p:cNvPr id="7" name="Shape 5"/>
          <p:cNvSpPr/>
          <p:nvPr/>
        </p:nvSpPr>
        <p:spPr>
          <a:xfrm>
            <a:off x="3538538" y="1376363"/>
            <a:ext cx="995363" cy="228600"/>
          </a:xfrm>
          <a:prstGeom prst="rect">
            <a:avLst/>
          </a:prstGeom>
          <a:noFill/>
          <a:ln/>
        </p:spPr>
      </p:sp>
      <p:sp>
        <p:nvSpPr>
          <p:cNvPr id="8" name="Shape 6"/>
          <p:cNvSpPr/>
          <p:nvPr/>
        </p:nvSpPr>
        <p:spPr>
          <a:xfrm>
            <a:off x="5091113" y="1376363"/>
            <a:ext cx="1681163" cy="228600"/>
          </a:xfrm>
          <a:prstGeom prst="rect">
            <a:avLst/>
          </a:prstGeom>
          <a:noFill/>
          <a:ln/>
        </p:spPr>
      </p:sp>
      <p:sp>
        <p:nvSpPr>
          <p:cNvPr id="9" name="Shape 7"/>
          <p:cNvSpPr/>
          <p:nvPr/>
        </p:nvSpPr>
        <p:spPr>
          <a:xfrm>
            <a:off x="0" y="3833812"/>
            <a:ext cx="3133725" cy="1319213"/>
          </a:xfrm>
          <a:prstGeom prst="rect">
            <a:avLst/>
          </a:prstGeom>
          <a:solidFill>
            <a:srgbClr val="000911">
              <a:alpha val="0"/>
            </a:srgbClr>
          </a:solidFill>
          <a:ln/>
        </p:spPr>
      </p:sp>
      <p:sp>
        <p:nvSpPr>
          <p:cNvPr id="10" name="Shape 8"/>
          <p:cNvSpPr/>
          <p:nvPr/>
        </p:nvSpPr>
        <p:spPr>
          <a:xfrm>
            <a:off x="152400" y="3986213"/>
            <a:ext cx="2828925" cy="904875"/>
          </a:xfrm>
          <a:prstGeom prst="rect">
            <a:avLst/>
          </a:prstGeom>
          <a:noFill/>
          <a:ln/>
        </p:spPr>
      </p:sp>
      <p:sp>
        <p:nvSpPr>
          <p:cNvPr id="11" name="Shape 9"/>
          <p:cNvSpPr/>
          <p:nvPr/>
        </p:nvSpPr>
        <p:spPr>
          <a:xfrm>
            <a:off x="152400" y="4400550"/>
            <a:ext cx="2828925" cy="490538"/>
          </a:xfrm>
          <a:prstGeom prst="rect">
            <a:avLst/>
          </a:prstGeom>
          <a:noFill/>
          <a:ln/>
        </p:spPr>
      </p:sp>
      <p:pic>
        <p:nvPicPr>
          <p:cNvPr id="12" name="Image 0" descr="preencoded.png">    </p:cNvPr>
          <p:cNvPicPr>
            <a:picLocks noChangeAspect="1"/>
          </p:cNvPicPr>
          <p:nvPr/>
        </p:nvPicPr>
        <p:blipFill>
          <a:blip r:embed="rId1"/>
          <a:stretch>
            <a:fillRect/>
          </a:stretch>
        </p:blipFill>
        <p:spPr>
          <a:xfrm>
            <a:off x="9525" y="0"/>
            <a:ext cx="3128963" cy="5143500"/>
          </a:xfrm>
          <a:prstGeom prst="rect">
            <a:avLst/>
          </a:prstGeom>
        </p:spPr>
      </p:pic>
      <p:sp>
        <p:nvSpPr>
          <p:cNvPr id="13" name="Text 10"/>
          <p:cNvSpPr/>
          <p:nvPr/>
        </p:nvSpPr>
        <p:spPr>
          <a:xfrm>
            <a:off x="3519488" y="595313"/>
            <a:ext cx="2867025" cy="395288"/>
          </a:xfrm>
          <a:prstGeom prst="rect">
            <a:avLst/>
          </a:prstGeom>
          <a:noFill/>
          <a:ln/>
        </p:spPr>
        <p:txBody>
          <a:bodyPr wrap="square" rtlCol="0" anchor="ctr"/>
          <a:lstStyle/>
          <a:p>
            <a:pPr algn="r" indent="0" marL="0">
              <a:lnSpc>
                <a:spcPts val="3120"/>
              </a:lnSpc>
              <a:buNone/>
            </a:pPr>
            <a:r>
              <a:rPr lang="en-US" sz="2400" b="1" spc="-53" kern="0" dirty="0">
                <a:solidFill>
                  <a:srgbClr val="FBFBFB">
                    <a:alpha val="99000"/>
                  </a:srgbClr>
                </a:solidFill>
                <a:latin typeface="IBM Plex Sans" pitchFamily="34" charset="0"/>
                <a:ea typeface="IBM Plex Sans" pitchFamily="34" charset="-122"/>
                <a:cs typeface="IBM Plex Sans" pitchFamily="34" charset="-120"/>
              </a:rPr>
              <a:t>More Information</a:t>
            </a:r>
            <a:endParaRPr lang="en-US" sz="2400" dirty="0"/>
          </a:p>
        </p:txBody>
      </p:sp>
      <p:sp>
        <p:nvSpPr>
          <p:cNvPr id="14" name="Text 11"/>
          <p:cNvSpPr/>
          <p:nvPr/>
        </p:nvSpPr>
        <p:spPr>
          <a:xfrm>
            <a:off x="152400" y="3986213"/>
            <a:ext cx="3286125" cy="300038"/>
          </a:xfrm>
          <a:prstGeom prst="rect">
            <a:avLst/>
          </a:prstGeom>
          <a:noFill/>
          <a:ln/>
        </p:spPr>
        <p:txBody>
          <a:bodyPr wrap="square" rtlCol="0" anchor="ctr"/>
          <a:lstStyle/>
          <a:p>
            <a:pPr algn="l" indent="0" marL="0">
              <a:lnSpc>
                <a:spcPts val="2340"/>
              </a:lnSpc>
              <a:buNone/>
            </a:pPr>
            <a:r>
              <a:rPr lang="en-US" sz="1800" spc="-72" kern="0" dirty="0">
                <a:solidFill>
                  <a:srgbClr val="FFFFFF">
                    <a:alpha val="99000"/>
                  </a:srgbClr>
                </a:solidFill>
                <a:latin typeface="IBM Plex Sans" pitchFamily="34" charset="0"/>
                <a:ea typeface="IBM Plex Sans" pitchFamily="34" charset="-122"/>
                <a:cs typeface="IBM Plex Sans" pitchFamily="34" charset="-120"/>
              </a:rPr>
              <a:t>Alisa Thompson</a:t>
            </a:r>
            <a:endParaRPr lang="en-US" sz="1800" dirty="0"/>
          </a:p>
        </p:txBody>
      </p:sp>
      <p:sp>
        <p:nvSpPr>
          <p:cNvPr id="15" name="Text 12"/>
          <p:cNvSpPr/>
          <p:nvPr/>
        </p:nvSpPr>
        <p:spPr>
          <a:xfrm>
            <a:off x="152400" y="4400550"/>
            <a:ext cx="1614488" cy="171450"/>
          </a:xfrm>
          <a:prstGeom prst="rect">
            <a:avLst/>
          </a:prstGeom>
          <a:noFill/>
          <a:ln/>
        </p:spPr>
        <p:txBody>
          <a:bodyPr wrap="square" rtlCol="0" anchor="ctr"/>
          <a:lstStyle/>
          <a:p>
            <a:pPr algn="l" indent="0" marL="0">
              <a:lnSpc>
                <a:spcPts val="1350"/>
              </a:lnSpc>
              <a:buNone/>
            </a:pPr>
            <a:r>
              <a:rPr lang="en-US" sz="900" dirty="0">
                <a:solidFill>
                  <a:srgbClr val="FFFFFF">
                    <a:alpha val="99000"/>
                  </a:srgbClr>
                </a:solidFill>
                <a:latin typeface="IBM Plex Sans" pitchFamily="34" charset="0"/>
                <a:ea typeface="IBM Plex Sans" pitchFamily="34" charset="-122"/>
                <a:cs typeface="IBM Plex Sans" pitchFamily="34" charset="-120"/>
              </a:rPr>
              <a:t>ROLE</a:t>
            </a:r>
            <a:endParaRPr lang="en-US" sz="900" dirty="0"/>
          </a:p>
        </p:txBody>
      </p:sp>
      <p:sp>
        <p:nvSpPr>
          <p:cNvPr id="16" name="Text 13"/>
          <p:cNvSpPr/>
          <p:nvPr/>
        </p:nvSpPr>
        <p:spPr>
          <a:xfrm>
            <a:off x="152400" y="4610100"/>
            <a:ext cx="1681163" cy="280988"/>
          </a:xfrm>
          <a:prstGeom prst="rect">
            <a:avLst/>
          </a:prstGeom>
          <a:noFill/>
          <a:ln/>
        </p:spPr>
        <p:txBody>
          <a:bodyPr wrap="square" rtlCol="0" anchor="ctr"/>
          <a:lstStyle/>
          <a:p>
            <a:pPr algn="l" indent="0" marL="0">
              <a:lnSpc>
                <a:spcPts val="1089"/>
              </a:lnSpc>
              <a:buNone/>
            </a:pPr>
            <a:r>
              <a:rPr lang="en-US" sz="900" b="1" dirty="0">
                <a:solidFill>
                  <a:srgbClr val="FFFFFF">
                    <a:alpha val="99000"/>
                  </a:srgbClr>
                </a:solidFill>
                <a:latin typeface="Inter" pitchFamily="34" charset="0"/>
                <a:ea typeface="Inter" pitchFamily="34" charset="-122"/>
                <a:cs typeface="Inter" pitchFamily="34" charset="-120"/>
              </a:rPr>
              <a:t>Campus Events Coordinator</a:t>
            </a:r>
            <a:endParaRPr lang="en-US" sz="900" dirty="0"/>
          </a:p>
        </p:txBody>
      </p:sp>
      <p:sp>
        <p:nvSpPr>
          <p:cNvPr id="17" name="Text 14"/>
          <p:cNvSpPr/>
          <p:nvPr/>
        </p:nvSpPr>
        <p:spPr>
          <a:xfrm>
            <a:off x="5091113" y="1376363"/>
            <a:ext cx="1085850" cy="228600"/>
          </a:xfrm>
          <a:prstGeom prst="rect">
            <a:avLst/>
          </a:prstGeom>
          <a:noFill/>
          <a:ln/>
        </p:spPr>
        <p:txBody>
          <a:bodyPr wrap="square" rtlCol="0" anchor="ctr"/>
          <a:lstStyle/>
          <a:p>
            <a:pPr algn="r" indent="0" marL="0">
              <a:lnSpc>
                <a:spcPts val="1800"/>
              </a:lnSpc>
              <a:buNone/>
            </a:pPr>
            <a:r>
              <a:rPr lang="en-US" sz="1200" dirty="0">
                <a:solidFill>
                  <a:srgbClr val="FBFBFB">
                    <a:alpha val="99000"/>
                  </a:srgbClr>
                </a:solidFill>
                <a:latin typeface="IBM Plex Sans" pitchFamily="34" charset="0"/>
                <a:ea typeface="IBM Plex Sans" pitchFamily="34" charset="-122"/>
                <a:cs typeface="IBM Plex Sans" pitchFamily="34" charset="-120"/>
              </a:rPr>
              <a:t>Location:</a:t>
            </a:r>
            <a:endParaRPr lang="en-US" sz="1200" dirty="0"/>
          </a:p>
        </p:txBody>
      </p:sp>
      <p:sp>
        <p:nvSpPr>
          <p:cNvPr id="18" name="Text 15"/>
          <p:cNvSpPr/>
          <p:nvPr/>
        </p:nvSpPr>
        <p:spPr>
          <a:xfrm>
            <a:off x="5791200" y="1376363"/>
            <a:ext cx="1438275" cy="228600"/>
          </a:xfrm>
          <a:prstGeom prst="rect">
            <a:avLst/>
          </a:prstGeom>
          <a:noFill/>
          <a:ln/>
        </p:spPr>
        <p:txBody>
          <a:bodyPr wrap="square" rtlCol="0" anchor="ctr"/>
          <a:lstStyle/>
          <a:p>
            <a:pPr algn="l" indent="0" marL="0">
              <a:lnSpc>
                <a:spcPts val="1800"/>
              </a:lnSpc>
              <a:buNone/>
            </a:pPr>
            <a:r>
              <a:rPr lang="en-US" sz="1200" dirty="0">
                <a:solidFill>
                  <a:srgbClr val="FBFBFB">
                    <a:alpha val="99000"/>
                  </a:srgbClr>
                </a:solidFill>
                <a:latin typeface="IBM Plex Sans" pitchFamily="34" charset="0"/>
                <a:ea typeface="IBM Plex Sans" pitchFamily="34" charset="-122"/>
                <a:cs typeface="IBM Plex Sans" pitchFamily="34" charset="-120"/>
              </a:rPr>
              <a:t>Vancouver, BC</a:t>
            </a:r>
            <a:endParaRPr lang="en-US" sz="1200" dirty="0"/>
          </a:p>
        </p:txBody>
      </p:sp>
      <p:sp>
        <p:nvSpPr>
          <p:cNvPr id="19" name="Text 16"/>
          <p:cNvSpPr/>
          <p:nvPr/>
        </p:nvSpPr>
        <p:spPr>
          <a:xfrm>
            <a:off x="3538538" y="1376363"/>
            <a:ext cx="942975" cy="228600"/>
          </a:xfrm>
          <a:prstGeom prst="rect">
            <a:avLst/>
          </a:prstGeom>
          <a:noFill/>
          <a:ln/>
        </p:spPr>
        <p:txBody>
          <a:bodyPr wrap="square" rtlCol="0" anchor="ctr"/>
          <a:lstStyle/>
          <a:p>
            <a:pPr algn="r" indent="0" marL="0">
              <a:lnSpc>
                <a:spcPts val="1800"/>
              </a:lnSpc>
              <a:buNone/>
            </a:pPr>
            <a:r>
              <a:rPr lang="en-US" sz="1200" dirty="0">
                <a:solidFill>
                  <a:srgbClr val="FBFBFB">
                    <a:alpha val="99000"/>
                  </a:srgbClr>
                </a:solidFill>
                <a:latin typeface="IBM Plex Sans" pitchFamily="34" charset="0"/>
                <a:ea typeface="IBM Plex Sans" pitchFamily="34" charset="-122"/>
                <a:cs typeface="IBM Plex Sans" pitchFamily="34" charset="-120"/>
              </a:rPr>
              <a:t>Status:</a:t>
            </a:r>
            <a:endParaRPr lang="en-US" sz="1200" dirty="0"/>
          </a:p>
        </p:txBody>
      </p:sp>
      <p:sp>
        <p:nvSpPr>
          <p:cNvPr id="20" name="Text 17"/>
          <p:cNvSpPr/>
          <p:nvPr/>
        </p:nvSpPr>
        <p:spPr>
          <a:xfrm>
            <a:off x="4114800" y="1376363"/>
            <a:ext cx="876300" cy="228600"/>
          </a:xfrm>
          <a:prstGeom prst="rect">
            <a:avLst/>
          </a:prstGeom>
          <a:noFill/>
          <a:ln/>
        </p:spPr>
        <p:txBody>
          <a:bodyPr wrap="square" rtlCol="0" anchor="ctr"/>
          <a:lstStyle/>
          <a:p>
            <a:pPr algn="l" indent="0" marL="0">
              <a:lnSpc>
                <a:spcPts val="1800"/>
              </a:lnSpc>
              <a:buNone/>
            </a:pPr>
            <a:r>
              <a:rPr lang="en-US" sz="1200" dirty="0">
                <a:solidFill>
                  <a:srgbClr val="FBFBFB">
                    <a:alpha val="99000"/>
                  </a:srgbClr>
                </a:solidFill>
                <a:latin typeface="IBM Plex Sans" pitchFamily="34" charset="0"/>
                <a:ea typeface="IBM Plex Sans" pitchFamily="34" charset="-122"/>
                <a:cs typeface="IBM Plex Sans" pitchFamily="34" charset="-120"/>
              </a:rPr>
              <a:t>Single</a:t>
            </a:r>
            <a:endParaRPr lang="en-US" sz="1200" dirty="0"/>
          </a:p>
        </p:txBody>
      </p:sp>
      <p:sp>
        <p:nvSpPr>
          <p:cNvPr id="21" name="Text 18"/>
          <p:cNvSpPr/>
          <p:nvPr/>
        </p:nvSpPr>
        <p:spPr>
          <a:xfrm>
            <a:off x="5081588" y="1147763"/>
            <a:ext cx="1185863" cy="228600"/>
          </a:xfrm>
          <a:prstGeom prst="rect">
            <a:avLst/>
          </a:prstGeom>
          <a:noFill/>
          <a:ln/>
        </p:spPr>
        <p:txBody>
          <a:bodyPr wrap="square" rtlCol="0" anchor="ctr"/>
          <a:lstStyle/>
          <a:p>
            <a:pPr algn="r" indent="0" marL="0">
              <a:lnSpc>
                <a:spcPts val="1800"/>
              </a:lnSpc>
              <a:buNone/>
            </a:pPr>
            <a:r>
              <a:rPr lang="en-US" sz="1200" dirty="0">
                <a:solidFill>
                  <a:srgbClr val="FBFBFB">
                    <a:alpha val="99000"/>
                  </a:srgbClr>
                </a:solidFill>
                <a:latin typeface="IBM Plex Sans" pitchFamily="34" charset="0"/>
                <a:ea typeface="IBM Plex Sans" pitchFamily="34" charset="-122"/>
                <a:cs typeface="IBM Plex Sans" pitchFamily="34" charset="-120"/>
              </a:rPr>
              <a:t>Education:</a:t>
            </a:r>
            <a:endParaRPr lang="en-US" sz="1200" dirty="0"/>
          </a:p>
        </p:txBody>
      </p:sp>
      <p:sp>
        <p:nvSpPr>
          <p:cNvPr id="22" name="Text 19"/>
          <p:cNvSpPr/>
          <p:nvPr/>
        </p:nvSpPr>
        <p:spPr>
          <a:xfrm>
            <a:off x="5919788" y="1147763"/>
            <a:ext cx="1271588" cy="228600"/>
          </a:xfrm>
          <a:prstGeom prst="rect">
            <a:avLst/>
          </a:prstGeom>
          <a:noFill/>
          <a:ln/>
        </p:spPr>
        <p:txBody>
          <a:bodyPr wrap="square" rtlCol="0" anchor="ctr"/>
          <a:lstStyle/>
          <a:p>
            <a:pPr algn="l" indent="0" marL="0">
              <a:lnSpc>
                <a:spcPts val="1800"/>
              </a:lnSpc>
              <a:buNone/>
            </a:pPr>
            <a:r>
              <a:rPr lang="en-US" sz="1200" dirty="0">
                <a:solidFill>
                  <a:srgbClr val="FBFBFB">
                    <a:alpha val="99000"/>
                  </a:srgbClr>
                </a:solidFill>
                <a:latin typeface="IBM Plex Sans" pitchFamily="34" charset="0"/>
                <a:ea typeface="IBM Plex Sans" pitchFamily="34" charset="-122"/>
                <a:cs typeface="IBM Plex Sans" pitchFamily="34" charset="-120"/>
              </a:rPr>
              <a:t>High School</a:t>
            </a:r>
            <a:endParaRPr lang="en-US" sz="1200" dirty="0"/>
          </a:p>
        </p:txBody>
      </p:sp>
      <p:sp>
        <p:nvSpPr>
          <p:cNvPr id="23" name="Text 20"/>
          <p:cNvSpPr/>
          <p:nvPr/>
        </p:nvSpPr>
        <p:spPr>
          <a:xfrm>
            <a:off x="3538538" y="1147763"/>
            <a:ext cx="766763" cy="228600"/>
          </a:xfrm>
          <a:prstGeom prst="rect">
            <a:avLst/>
          </a:prstGeom>
          <a:noFill/>
          <a:ln/>
        </p:spPr>
        <p:txBody>
          <a:bodyPr wrap="square" rtlCol="0" anchor="ctr"/>
          <a:lstStyle/>
          <a:p>
            <a:pPr algn="r" indent="0" marL="0">
              <a:lnSpc>
                <a:spcPts val="1800"/>
              </a:lnSpc>
              <a:buNone/>
            </a:pPr>
            <a:r>
              <a:rPr lang="en-US" sz="1200" dirty="0">
                <a:solidFill>
                  <a:srgbClr val="FBFBFB">
                    <a:alpha val="99000"/>
                  </a:srgbClr>
                </a:solidFill>
                <a:latin typeface="IBM Plex Sans" pitchFamily="34" charset="0"/>
                <a:ea typeface="IBM Plex Sans" pitchFamily="34" charset="-122"/>
                <a:cs typeface="IBM Plex Sans" pitchFamily="34" charset="-120"/>
              </a:rPr>
              <a:t>Age:</a:t>
            </a:r>
            <a:endParaRPr lang="en-US" sz="1200" dirty="0"/>
          </a:p>
        </p:txBody>
      </p:sp>
      <p:sp>
        <p:nvSpPr>
          <p:cNvPr id="24" name="Text 21"/>
          <p:cNvSpPr/>
          <p:nvPr/>
        </p:nvSpPr>
        <p:spPr>
          <a:xfrm>
            <a:off x="3990975" y="1147763"/>
            <a:ext cx="642938" cy="228600"/>
          </a:xfrm>
          <a:prstGeom prst="rect">
            <a:avLst/>
          </a:prstGeom>
          <a:noFill/>
          <a:ln/>
        </p:spPr>
        <p:txBody>
          <a:bodyPr wrap="square" rtlCol="0" anchor="ctr"/>
          <a:lstStyle/>
          <a:p>
            <a:pPr algn="l" indent="0" marL="0">
              <a:lnSpc>
                <a:spcPts val="1800"/>
              </a:lnSpc>
              <a:buNone/>
            </a:pPr>
            <a:r>
              <a:rPr lang="en-US" sz="1200" dirty="0">
                <a:solidFill>
                  <a:srgbClr val="FBFBFB">
                    <a:alpha val="99000"/>
                  </a:srgbClr>
                </a:solidFill>
                <a:latin typeface="IBM Plex Sans" pitchFamily="34" charset="0"/>
                <a:ea typeface="IBM Plex Sans" pitchFamily="34" charset="-122"/>
                <a:cs typeface="IBM Plex Sans" pitchFamily="34" charset="-120"/>
              </a:rPr>
              <a:t>21</a:t>
            </a:r>
            <a:endParaRPr lang="en-US" sz="1200" dirty="0"/>
          </a:p>
        </p:txBody>
      </p:sp>
      <p:sp>
        <p:nvSpPr>
          <p:cNvPr id="25" name="Text 22"/>
          <p:cNvSpPr/>
          <p:nvPr/>
        </p:nvSpPr>
        <p:spPr>
          <a:xfrm>
            <a:off x="6076950" y="2976563"/>
            <a:ext cx="1338262" cy="276225"/>
          </a:xfrm>
          <a:prstGeom prst="rect">
            <a:avLst/>
          </a:prstGeom>
          <a:noFill/>
          <a:ln/>
        </p:spPr>
        <p:txBody>
          <a:bodyPr wrap="square" rtlCol="0" anchor="ctr"/>
          <a:lstStyle/>
          <a:p>
            <a:pPr algn="l" indent="0" marL="0">
              <a:lnSpc>
                <a:spcPts val="2160"/>
              </a:lnSpc>
              <a:buNone/>
            </a:pPr>
            <a:r>
              <a:rPr lang="en-US" sz="1350" b="1" spc="-13" kern="0" dirty="0">
                <a:solidFill>
                  <a:srgbClr val="FBFBFB">
                    <a:alpha val="99000"/>
                  </a:srgbClr>
                </a:solidFill>
                <a:latin typeface="IBM Plex Sans" pitchFamily="34" charset="0"/>
                <a:ea typeface="IBM Plex Sans" pitchFamily="34" charset="-122"/>
                <a:cs typeface="IBM Plex Sans" pitchFamily="34" charset="-120"/>
              </a:rPr>
              <a:t>Frustration</a:t>
            </a:r>
            <a:endParaRPr lang="en-US" sz="1350" dirty="0"/>
          </a:p>
        </p:txBody>
      </p:sp>
      <p:sp>
        <p:nvSpPr>
          <p:cNvPr id="26" name="Text 23"/>
          <p:cNvSpPr/>
          <p:nvPr/>
        </p:nvSpPr>
        <p:spPr>
          <a:xfrm>
            <a:off x="6076950" y="3348038"/>
            <a:ext cx="3138488" cy="1200150"/>
          </a:xfrm>
          <a:prstGeom prst="rect">
            <a:avLst/>
          </a:prstGeom>
          <a:noFill/>
          <a:ln/>
        </p:spPr>
        <p:txBody>
          <a:bodyPr wrap="square" rtlCol="0" anchor="ctr"/>
          <a:lstStyle/>
          <a:p>
            <a:pPr algn="l" indent="0" marL="0">
              <a:lnSpc>
                <a:spcPts val="1350"/>
              </a:lnSpc>
              <a:buNone/>
            </a:pPr>
            <a:r>
              <a:rPr lang="en-US" sz="900" dirty="0">
                <a:solidFill>
                  <a:srgbClr val="FBFBFB">
                    <a:alpha val="99000"/>
                  </a:srgbClr>
                </a:solidFill>
                <a:latin typeface="IBM Plex Sans" pitchFamily="34" charset="0"/>
                <a:ea typeface="IBM Plex Sans" pitchFamily="34" charset="-122"/>
                <a:cs typeface="IBM Plex Sans" pitchFamily="34" charset="-120"/>
              </a:rPr>
              <a:t>Currently each time she plans an event, an email needs to be sent out to the entire student population. This is both time consuming and ineffective. Students that attend other KPU campuses also do not receive the emails, which limits attendees to students within the Wilson School of Design.</a:t>
            </a:r>
            <a:endParaRPr lang="en-US" sz="900" dirty="0"/>
          </a:p>
        </p:txBody>
      </p:sp>
      <p:sp>
        <p:nvSpPr>
          <p:cNvPr id="27" name="Text 24"/>
          <p:cNvSpPr/>
          <p:nvPr/>
        </p:nvSpPr>
        <p:spPr>
          <a:xfrm>
            <a:off x="3538538" y="3000375"/>
            <a:ext cx="909638" cy="276225"/>
          </a:xfrm>
          <a:prstGeom prst="rect">
            <a:avLst/>
          </a:prstGeom>
          <a:noFill/>
          <a:ln/>
        </p:spPr>
        <p:txBody>
          <a:bodyPr wrap="square" rtlCol="0" anchor="ctr"/>
          <a:lstStyle/>
          <a:p>
            <a:pPr algn="l" indent="0" marL="0">
              <a:lnSpc>
                <a:spcPts val="2160"/>
              </a:lnSpc>
              <a:buNone/>
            </a:pPr>
            <a:r>
              <a:rPr lang="en-US" sz="1350" b="1" spc="-13" kern="0" dirty="0">
                <a:solidFill>
                  <a:srgbClr val="FBFBFB">
                    <a:alpha val="99000"/>
                  </a:srgbClr>
                </a:solidFill>
                <a:latin typeface="IBM Plex Sans" pitchFamily="34" charset="0"/>
                <a:ea typeface="IBM Plex Sans" pitchFamily="34" charset="-122"/>
                <a:cs typeface="IBM Plex Sans" pitchFamily="34" charset="-120"/>
              </a:rPr>
              <a:t>Goals</a:t>
            </a:r>
            <a:endParaRPr lang="en-US" sz="1350" dirty="0"/>
          </a:p>
        </p:txBody>
      </p:sp>
      <p:sp>
        <p:nvSpPr>
          <p:cNvPr id="28" name="Text 25"/>
          <p:cNvSpPr/>
          <p:nvPr/>
        </p:nvSpPr>
        <p:spPr>
          <a:xfrm>
            <a:off x="3538538" y="3371850"/>
            <a:ext cx="2776538" cy="1028700"/>
          </a:xfrm>
          <a:prstGeom prst="rect">
            <a:avLst/>
          </a:prstGeom>
          <a:noFill/>
          <a:ln/>
        </p:spPr>
        <p:txBody>
          <a:bodyPr wrap="square" rtlCol="0" anchor="ctr"/>
          <a:lstStyle/>
          <a:p>
            <a:pPr algn="l" indent="0" marL="0">
              <a:lnSpc>
                <a:spcPts val="1350"/>
              </a:lnSpc>
              <a:buNone/>
            </a:pPr>
            <a:r>
              <a:rPr lang="en-US" sz="900" dirty="0">
                <a:solidFill>
                  <a:srgbClr val="FBFBFB">
                    <a:alpha val="99000"/>
                  </a:srgbClr>
                </a:solidFill>
                <a:latin typeface="IBM Plex Sans" pitchFamily="34" charset="0"/>
                <a:ea typeface="IBM Plex Sans" pitchFamily="34" charset="-122"/>
                <a:cs typeface="IBM Plex Sans" pitchFamily="34" charset="-120"/>
              </a:rPr>
              <a:t>She hopes to create some fun events that will resonate with the other students at KPU. Her hope is to network and build new friendships with other students. Besides that, she also wants to build a better sense of community on her campus.</a:t>
            </a:r>
            <a:endParaRPr lang="en-US" sz="900" dirty="0"/>
          </a:p>
        </p:txBody>
      </p:sp>
      <p:sp>
        <p:nvSpPr>
          <p:cNvPr id="29" name="Text 26"/>
          <p:cNvSpPr/>
          <p:nvPr/>
        </p:nvSpPr>
        <p:spPr>
          <a:xfrm>
            <a:off x="3538538" y="1762125"/>
            <a:ext cx="1409700" cy="276225"/>
          </a:xfrm>
          <a:prstGeom prst="rect">
            <a:avLst/>
          </a:prstGeom>
          <a:noFill/>
          <a:ln/>
        </p:spPr>
        <p:txBody>
          <a:bodyPr wrap="square" rtlCol="0" anchor="ctr"/>
          <a:lstStyle/>
          <a:p>
            <a:pPr algn="l" indent="0" marL="0">
              <a:lnSpc>
                <a:spcPts val="2160"/>
              </a:lnSpc>
              <a:buNone/>
            </a:pPr>
            <a:r>
              <a:rPr lang="en-US" sz="1350" b="1" spc="-13" kern="0" dirty="0">
                <a:solidFill>
                  <a:srgbClr val="FBFBFB">
                    <a:alpha val="99000"/>
                  </a:srgbClr>
                </a:solidFill>
                <a:latin typeface="IBM Plex Sans" pitchFamily="34" charset="0"/>
                <a:ea typeface="IBM Plex Sans" pitchFamily="34" charset="-122"/>
                <a:cs typeface="IBM Plex Sans" pitchFamily="34" charset="-120"/>
              </a:rPr>
              <a:t>Background</a:t>
            </a:r>
            <a:endParaRPr lang="en-US" sz="1350" dirty="0"/>
          </a:p>
        </p:txBody>
      </p:sp>
      <p:sp>
        <p:nvSpPr>
          <p:cNvPr id="30" name="Text 27"/>
          <p:cNvSpPr/>
          <p:nvPr/>
        </p:nvSpPr>
        <p:spPr>
          <a:xfrm>
            <a:off x="3538538" y="2133600"/>
            <a:ext cx="5676900" cy="685800"/>
          </a:xfrm>
          <a:prstGeom prst="rect">
            <a:avLst/>
          </a:prstGeom>
          <a:noFill/>
          <a:ln/>
        </p:spPr>
        <p:txBody>
          <a:bodyPr wrap="square" rtlCol="0" anchor="ctr"/>
          <a:lstStyle/>
          <a:p>
            <a:pPr algn="l" indent="0" marL="0">
              <a:lnSpc>
                <a:spcPts val="1350"/>
              </a:lnSpc>
              <a:buNone/>
            </a:pPr>
            <a:r>
              <a:rPr lang="en-US" sz="900" dirty="0">
                <a:solidFill>
                  <a:srgbClr val="FBFBFB">
                    <a:alpha val="99000"/>
                  </a:srgbClr>
                </a:solidFill>
                <a:latin typeface="IBM Plex Sans" pitchFamily="34" charset="0"/>
                <a:ea typeface="IBM Plex Sans" pitchFamily="34" charset="-122"/>
                <a:cs typeface="IBM Plex Sans" pitchFamily="34" charset="-120"/>
              </a:rPr>
              <a:t>Alisa is a student at Kwantlen Polytechnic University (KPU) that is currently working as an events assistant at the Wilson School of Design campus in Richmond, BC. She volunteered as a part of student counsel during High School, and desires to continue to hone her skills at event planning and logistics at the University.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61D"/>
        </a:solidFill>
      </p:bgPr>
    </p:bg>
    <p:spTree>
      <p:nvGrpSpPr>
        <p:cNvPr id="1" name=""/>
        <p:cNvGrpSpPr/>
        <p:nvPr/>
      </p:nvGrpSpPr>
      <p:grpSpPr>
        <a:xfrm>
          <a:off x="0" y="0"/>
          <a:ext cx="0" cy="0"/>
          <a:chOff x="0" y="0"/>
          <a:chExt cx="0" cy="0"/>
        </a:xfrm>
      </p:grpSpPr>
      <p:sp>
        <p:nvSpPr>
          <p:cNvPr id="2" name="Shape 0"/>
          <p:cNvSpPr/>
          <p:nvPr/>
        </p:nvSpPr>
        <p:spPr>
          <a:xfrm>
            <a:off x="476250" y="704850"/>
            <a:ext cx="6181725" cy="3738563"/>
          </a:xfrm>
          <a:prstGeom prst="rect">
            <a:avLst/>
          </a:prstGeom>
          <a:noFill/>
          <a:ln/>
        </p:spPr>
      </p:sp>
      <p:sp>
        <p:nvSpPr>
          <p:cNvPr id="3" name="Shape 1"/>
          <p:cNvSpPr/>
          <p:nvPr/>
        </p:nvSpPr>
        <p:spPr>
          <a:xfrm>
            <a:off x="7019925" y="381000"/>
            <a:ext cx="1369966" cy="4296231"/>
          </a:xfrm>
          <a:prstGeom prst="rect">
            <a:avLst/>
          </a:prstGeom>
          <a:noFill/>
          <a:ln/>
        </p:spPr>
      </p:sp>
      <p:pic>
        <p:nvPicPr>
          <p:cNvPr id="4" name="Image 0" descr="preencoded.png">    </p:cNvPr>
          <p:cNvPicPr>
            <a:picLocks noChangeAspect="1"/>
          </p:cNvPicPr>
          <p:nvPr/>
        </p:nvPicPr>
        <p:blipFill>
          <a:blip r:embed="rId1"/>
          <a:stretch>
            <a:fillRect/>
          </a:stretch>
        </p:blipFill>
        <p:spPr>
          <a:xfrm>
            <a:off x="7019925" y="381000"/>
            <a:ext cx="1369963" cy="1191250"/>
          </a:xfrm>
          <a:prstGeom prst="rect">
            <a:avLst/>
          </a:prstGeom>
        </p:spPr>
      </p:pic>
      <p:pic>
        <p:nvPicPr>
          <p:cNvPr id="5" name="Image 1" descr="preencoded.png">    </p:cNvPr>
          <p:cNvPicPr>
            <a:picLocks noChangeAspect="1"/>
          </p:cNvPicPr>
          <p:nvPr/>
        </p:nvPicPr>
        <p:blipFill>
          <a:blip r:embed="rId2"/>
          <a:stretch>
            <a:fillRect/>
          </a:stretch>
        </p:blipFill>
        <p:spPr>
          <a:xfrm>
            <a:off x="7059830" y="1991350"/>
            <a:ext cx="1290163" cy="789171"/>
          </a:xfrm>
          <a:prstGeom prst="rect">
            <a:avLst/>
          </a:prstGeom>
        </p:spPr>
      </p:pic>
      <p:pic>
        <p:nvPicPr>
          <p:cNvPr id="6" name="Image 2" descr="preencoded.png">    </p:cNvPr>
          <p:cNvPicPr>
            <a:picLocks noChangeAspect="1"/>
          </p:cNvPicPr>
          <p:nvPr/>
        </p:nvPicPr>
        <p:blipFill>
          <a:blip r:embed="rId3"/>
          <a:stretch>
            <a:fillRect/>
          </a:stretch>
        </p:blipFill>
        <p:spPr>
          <a:xfrm>
            <a:off x="7123612" y="3199621"/>
            <a:ext cx="1162599" cy="1191860"/>
          </a:xfrm>
          <a:prstGeom prst="rect">
            <a:avLst/>
          </a:prstGeom>
        </p:spPr>
      </p:pic>
      <p:sp>
        <p:nvSpPr>
          <p:cNvPr id="7" name="Text 2"/>
          <p:cNvSpPr/>
          <p:nvPr/>
        </p:nvSpPr>
        <p:spPr>
          <a:xfrm>
            <a:off x="7019925" y="1705600"/>
            <a:ext cx="1827166" cy="152400"/>
          </a:xfrm>
          <a:prstGeom prst="rect">
            <a:avLst/>
          </a:prstGeom>
          <a:noFill/>
          <a:ln/>
        </p:spPr>
        <p:txBody>
          <a:bodyPr wrap="square" rtlCol="0" anchor="ctr"/>
          <a:lstStyle/>
          <a:p>
            <a:pPr algn="ctr" indent="0" marL="0">
              <a:lnSpc>
                <a:spcPts val="1197"/>
              </a:lnSpc>
              <a:buNone/>
            </a:pPr>
            <a:r>
              <a:rPr lang="en-US" sz="798" dirty="0">
                <a:solidFill>
                  <a:srgbClr val="FFFFFF">
                    <a:alpha val="99000"/>
                  </a:srgbClr>
                </a:solidFill>
                <a:latin typeface="IBM Plex Sans" pitchFamily="34" charset="0"/>
                <a:ea typeface="IBM Plex Sans" pitchFamily="34" charset="-122"/>
                <a:cs typeface="IBM Plex Sans" pitchFamily="34" charset="-120"/>
              </a:rPr>
              <a:t>React JS </a:t>
            </a:r>
            <a:endParaRPr lang="en-US" sz="798" dirty="0"/>
          </a:p>
        </p:txBody>
      </p:sp>
      <p:sp>
        <p:nvSpPr>
          <p:cNvPr id="8" name="Text 3"/>
          <p:cNvSpPr/>
          <p:nvPr/>
        </p:nvSpPr>
        <p:spPr>
          <a:xfrm>
            <a:off x="7019925" y="2913871"/>
            <a:ext cx="1827166" cy="152400"/>
          </a:xfrm>
          <a:prstGeom prst="rect">
            <a:avLst/>
          </a:prstGeom>
          <a:noFill/>
          <a:ln/>
        </p:spPr>
        <p:txBody>
          <a:bodyPr wrap="square" rtlCol="0" anchor="ctr"/>
          <a:lstStyle/>
          <a:p>
            <a:pPr algn="ctr" indent="0" marL="0">
              <a:lnSpc>
                <a:spcPts val="1197"/>
              </a:lnSpc>
              <a:buNone/>
            </a:pPr>
            <a:r>
              <a:rPr lang="en-US" sz="798" dirty="0">
                <a:solidFill>
                  <a:srgbClr val="FFFFFF">
                    <a:alpha val="99000"/>
                  </a:srgbClr>
                </a:solidFill>
                <a:latin typeface="IBM Plex Sans" pitchFamily="34" charset="0"/>
                <a:ea typeface="IBM Plex Sans" pitchFamily="34" charset="-122"/>
                <a:cs typeface="IBM Plex Sans" pitchFamily="34" charset="-120"/>
              </a:rPr>
              <a:t>Tailwind CSS</a:t>
            </a:r>
            <a:endParaRPr lang="en-US" sz="798" dirty="0"/>
          </a:p>
        </p:txBody>
      </p:sp>
      <p:sp>
        <p:nvSpPr>
          <p:cNvPr id="9" name="Text 4"/>
          <p:cNvSpPr/>
          <p:nvPr/>
        </p:nvSpPr>
        <p:spPr>
          <a:xfrm>
            <a:off x="7019925" y="4524831"/>
            <a:ext cx="1827166" cy="152400"/>
          </a:xfrm>
          <a:prstGeom prst="rect">
            <a:avLst/>
          </a:prstGeom>
          <a:noFill/>
          <a:ln/>
        </p:spPr>
        <p:txBody>
          <a:bodyPr wrap="square" rtlCol="0" anchor="ctr"/>
          <a:lstStyle/>
          <a:p>
            <a:pPr algn="ctr" indent="0" marL="0">
              <a:lnSpc>
                <a:spcPts val="1197"/>
              </a:lnSpc>
              <a:buNone/>
            </a:pPr>
            <a:r>
              <a:rPr lang="en-US" sz="798" dirty="0">
                <a:solidFill>
                  <a:srgbClr val="FFFFFF">
                    <a:alpha val="99000"/>
                  </a:srgbClr>
                </a:solidFill>
                <a:latin typeface="IBM Plex Sans" pitchFamily="34" charset="0"/>
                <a:ea typeface="IBM Plex Sans" pitchFamily="34" charset="-122"/>
                <a:cs typeface="IBM Plex Sans" pitchFamily="34" charset="-120"/>
              </a:rPr>
              <a:t>Supabase</a:t>
            </a:r>
            <a:endParaRPr lang="en-US" sz="798" dirty="0"/>
          </a:p>
        </p:txBody>
      </p:sp>
      <p:sp>
        <p:nvSpPr>
          <p:cNvPr id="10" name="Text 5"/>
          <p:cNvSpPr/>
          <p:nvPr/>
        </p:nvSpPr>
        <p:spPr>
          <a:xfrm>
            <a:off x="476250" y="704850"/>
            <a:ext cx="6638925" cy="395288"/>
          </a:xfrm>
          <a:prstGeom prst="rect">
            <a:avLst/>
          </a:prstGeom>
          <a:noFill/>
          <a:ln/>
        </p:spPr>
        <p:txBody>
          <a:bodyPr wrap="square" rtlCol="0" anchor="ctr"/>
          <a:lstStyle/>
          <a:p>
            <a:pPr algn="l" indent="0" marL="0">
              <a:lnSpc>
                <a:spcPts val="3120"/>
              </a:lnSpc>
              <a:buNone/>
            </a:pPr>
            <a:r>
              <a:rPr lang="en-US" sz="2400" spc="-53" kern="0" dirty="0">
                <a:solidFill>
                  <a:srgbClr val="FFFFFF">
                    <a:alpha val="99000"/>
                  </a:srgbClr>
                </a:solidFill>
                <a:latin typeface="IBM Plex Sans" pitchFamily="34" charset="0"/>
                <a:ea typeface="IBM Plex Sans" pitchFamily="34" charset="-122"/>
                <a:cs typeface="IBM Plex Sans" pitchFamily="34" charset="-120"/>
              </a:rPr>
              <a:t>Project Technical Requirements</a:t>
            </a:r>
            <a:endParaRPr lang="en-US" sz="2400" dirty="0"/>
          </a:p>
        </p:txBody>
      </p:sp>
      <p:sp>
        <p:nvSpPr>
          <p:cNvPr id="11" name="Text 6"/>
          <p:cNvSpPr/>
          <p:nvPr/>
        </p:nvSpPr>
        <p:spPr>
          <a:xfrm>
            <a:off x="476250" y="1243013"/>
            <a:ext cx="6638925" cy="3200400"/>
          </a:xfrm>
          <a:prstGeom prst="rect">
            <a:avLst/>
          </a:prstGeom>
          <a:noFill/>
          <a:ln/>
        </p:spPr>
        <p:txBody>
          <a:bodyPr wrap="square" rtlCol="0" anchor="ctr"/>
          <a:lstStyle/>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The KPU Events Web App will be developed using the following technology stack:</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React JS – Provides a modern, component-based framework for building interactive and responsive user interfaces.</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Supabase – Serves as the backend platform, offering authentication, a real-time database, file storage, and APIs to keep event data synchronized.</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TailwindCSS – Enables quick styling with responsive design built in.</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Shadcn/UI &amp; Hero Icons – Supplies pre-built, accessible components and icons, which can are optimized to be integrated with Tailwind CSS for a polished interface.</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FullCalendar – Provides an interactive, dynamic calendar view to display event data directly from the database.</a:t>
            </a:r>
            <a:endParaRPr lang="en-US" sz="1200" dirty="0"/>
          </a:p>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As students in our final year, this tech stack demonstrates our ability to build modern web apps that bring real value to our community. These technologies are widely adopted, well-documented, and provide the tools needed to deliver a professional-grade project.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61D"/>
        </a:solidFill>
      </p:bgPr>
    </p:bg>
    <p:spTree>
      <p:nvGrpSpPr>
        <p:cNvPr id="1" name=""/>
        <p:cNvGrpSpPr/>
        <p:nvPr/>
      </p:nvGrpSpPr>
      <p:grpSpPr>
        <a:xfrm>
          <a:off x="0" y="0"/>
          <a:ext cx="0" cy="0"/>
          <a:chOff x="0" y="0"/>
          <a:chExt cx="0" cy="0"/>
        </a:xfrm>
      </p:grpSpPr>
      <p:sp>
        <p:nvSpPr>
          <p:cNvPr id="2" name="Shape 0"/>
          <p:cNvSpPr/>
          <p:nvPr/>
        </p:nvSpPr>
        <p:spPr>
          <a:xfrm>
            <a:off x="476250" y="476250"/>
            <a:ext cx="8062913" cy="4195763"/>
          </a:xfrm>
          <a:prstGeom prst="rect">
            <a:avLst/>
          </a:prstGeom>
          <a:noFill/>
          <a:ln/>
        </p:spPr>
      </p:sp>
      <p:sp>
        <p:nvSpPr>
          <p:cNvPr id="3" name="Text 1"/>
          <p:cNvSpPr/>
          <p:nvPr/>
        </p:nvSpPr>
        <p:spPr>
          <a:xfrm>
            <a:off x="476250" y="476250"/>
            <a:ext cx="8520113" cy="395288"/>
          </a:xfrm>
          <a:prstGeom prst="rect">
            <a:avLst/>
          </a:prstGeom>
          <a:noFill/>
          <a:ln/>
        </p:spPr>
        <p:txBody>
          <a:bodyPr wrap="square" rtlCol="0" anchor="ctr"/>
          <a:lstStyle/>
          <a:p>
            <a:pPr algn="l" indent="0" marL="0">
              <a:lnSpc>
                <a:spcPts val="3120"/>
              </a:lnSpc>
              <a:buNone/>
            </a:pPr>
            <a:r>
              <a:rPr lang="en-US" sz="2400" spc="-53" kern="0" dirty="0">
                <a:solidFill>
                  <a:srgbClr val="FFFFFF">
                    <a:alpha val="99000"/>
                  </a:srgbClr>
                </a:solidFill>
                <a:latin typeface="IBM Plex Sans" pitchFamily="34" charset="0"/>
                <a:ea typeface="IBM Plex Sans" pitchFamily="34" charset="-122"/>
                <a:cs typeface="IBM Plex Sans" pitchFamily="34" charset="-120"/>
              </a:rPr>
              <a:t>Core Components</a:t>
            </a:r>
            <a:endParaRPr lang="en-US" sz="2400" dirty="0"/>
          </a:p>
        </p:txBody>
      </p:sp>
      <p:sp>
        <p:nvSpPr>
          <p:cNvPr id="4" name="Text 2"/>
          <p:cNvSpPr/>
          <p:nvPr/>
        </p:nvSpPr>
        <p:spPr>
          <a:xfrm>
            <a:off x="476250" y="1014413"/>
            <a:ext cx="8520113" cy="3657600"/>
          </a:xfrm>
          <a:prstGeom prst="rect">
            <a:avLst/>
          </a:prstGeom>
          <a:noFill/>
          <a:ln/>
        </p:spPr>
        <p:txBody>
          <a:bodyPr wrap="square" rtlCol="0" anchor="ctr"/>
          <a:lstStyle/>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The following outlines the key planned components to enable the functionality for Pulse@KPU.</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&lt;header /&gt;</a:t>
            </a:r>
            <a:endParaRPr lang="en-US" sz="1200" dirty="0"/>
          </a:p>
          <a:p>
            <a:pPr algn="l" lvl="1" marL="6858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Contains the logo, navigation, and login/logout functions for the user. Supabase will be used for ID authentication and role-based access.</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&lt;main /&gt;</a:t>
            </a:r>
            <a:endParaRPr lang="en-US" sz="1200" dirty="0"/>
          </a:p>
          <a:p>
            <a:pPr algn="l" lvl="1" marL="6858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Shows either the list of posts or calendar view. This section dynamically shows the content based on the user selected view option.</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&lt;posts /&gt;</a:t>
            </a:r>
            <a:endParaRPr lang="en-US" sz="1200" dirty="0"/>
          </a:p>
          <a:p>
            <a:pPr algn="l" lvl="1" marL="6858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List the posts and upcoming events. A table on Supabase will handle the storage of event details, including the title, date, and description.</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&lt;calendar /&gt;</a:t>
            </a:r>
            <a:endParaRPr lang="en-US" sz="1200" dirty="0"/>
          </a:p>
          <a:p>
            <a:pPr algn="l" lvl="1" marL="6858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Displays upcoming events in a calendar view, linked to the event database. Initial plans is to use FullCalendar to implement this feature.</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&lt;admin /&gt;</a:t>
            </a:r>
            <a:endParaRPr lang="en-US" sz="1200" dirty="0"/>
          </a:p>
          <a:p>
            <a:pPr algn="l" lvl="1" marL="6858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Restricted to approved admins for posting events. Using Supabase’s role management with RLS policies, only the users with admin access will see a component allowing them to post new events.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61D"/>
        </a:solidFill>
      </p:bgPr>
    </p:bg>
    <p:spTree>
      <p:nvGrpSpPr>
        <p:cNvPr id="1" name=""/>
        <p:cNvGrpSpPr/>
        <p:nvPr/>
      </p:nvGrpSpPr>
      <p:grpSpPr>
        <a:xfrm>
          <a:off x="0" y="0"/>
          <a:ext cx="0" cy="0"/>
          <a:chOff x="0" y="0"/>
          <a:chExt cx="0" cy="0"/>
        </a:xfrm>
      </p:grpSpPr>
      <p:sp>
        <p:nvSpPr>
          <p:cNvPr id="2" name="Shape 0"/>
          <p:cNvSpPr/>
          <p:nvPr/>
        </p:nvSpPr>
        <p:spPr>
          <a:xfrm>
            <a:off x="476250" y="1159669"/>
            <a:ext cx="3619500" cy="2824163"/>
          </a:xfrm>
          <a:prstGeom prst="rect">
            <a:avLst/>
          </a:prstGeom>
          <a:noFill/>
          <a:ln/>
        </p:spPr>
      </p:sp>
      <p:sp>
        <p:nvSpPr>
          <p:cNvPr id="3" name="Text 1"/>
          <p:cNvSpPr/>
          <p:nvPr/>
        </p:nvSpPr>
        <p:spPr>
          <a:xfrm>
            <a:off x="4881563" y="571500"/>
            <a:ext cx="4076700" cy="4114800"/>
          </a:xfrm>
          <a:prstGeom prst="rect">
            <a:avLst/>
          </a:prstGeom>
          <a:noFill/>
          <a:ln/>
        </p:spPr>
        <p:txBody>
          <a:bodyPr wrap="square" rtlCol="0" anchor="ctr"/>
          <a:lstStyle/>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Key screens and components:</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Header / Navigation - provides branding and navigation links</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Search bar with functionality</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Hamburger menu with various options such as account profile and user calendar</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Home screen with login functionality for both students, general users, and admin</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Events page showing a feed of upcoming events being updated in realtime from the Supabase API.</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Login screen, showing user authentication supported by Supabase. RLS policy management is handled through Supabase, which allows admin users to have access to event posting features.</a:t>
            </a:r>
            <a:endParaRPr lang="en-US" sz="1200" dirty="0"/>
          </a:p>
          <a:p>
            <a:pPr algn="l" marL="342900" indent="-342900">
              <a:lnSpc>
                <a:spcPts val="1800"/>
              </a:lnSpc>
              <a:buSzPct val="100000"/>
              <a:buChar char="•"/>
            </a:pPr>
            <a:r>
              <a:rPr lang="en-US" sz="1200" dirty="0">
                <a:solidFill>
                  <a:srgbClr val="FFFFFF">
                    <a:alpha val="99000"/>
                  </a:srgbClr>
                </a:solidFill>
                <a:latin typeface="IBM Plex Sans" pitchFamily="34" charset="0"/>
                <a:ea typeface="IBM Plex Sans" pitchFamily="34" charset="-122"/>
                <a:cs typeface="IBM Plex Sans" pitchFamily="34" charset="-120"/>
              </a:rPr>
              <a:t>An events posting modal that is accessible by admin using role-based assess.</a:t>
            </a:r>
            <a:endParaRPr lang="en-US" sz="1200" dirty="0"/>
          </a:p>
        </p:txBody>
      </p:sp>
      <p:sp>
        <p:nvSpPr>
          <p:cNvPr id="4" name="Text 2"/>
          <p:cNvSpPr/>
          <p:nvPr/>
        </p:nvSpPr>
        <p:spPr>
          <a:xfrm>
            <a:off x="476250" y="1159669"/>
            <a:ext cx="4076700" cy="395288"/>
          </a:xfrm>
          <a:prstGeom prst="rect">
            <a:avLst/>
          </a:prstGeom>
          <a:noFill/>
          <a:ln/>
        </p:spPr>
        <p:txBody>
          <a:bodyPr wrap="square" rtlCol="0" anchor="ctr"/>
          <a:lstStyle/>
          <a:p>
            <a:pPr algn="l" indent="0" marL="0">
              <a:lnSpc>
                <a:spcPts val="3120"/>
              </a:lnSpc>
              <a:buNone/>
            </a:pPr>
            <a:r>
              <a:rPr lang="en-US" sz="2400" spc="-53" kern="0" dirty="0">
                <a:solidFill>
                  <a:srgbClr val="FFFFFF">
                    <a:alpha val="99000"/>
                  </a:srgbClr>
                </a:solidFill>
                <a:latin typeface="IBM Plex Sans" pitchFamily="34" charset="0"/>
                <a:ea typeface="IBM Plex Sans" pitchFamily="34" charset="-122"/>
                <a:cs typeface="IBM Plex Sans" pitchFamily="34" charset="-120"/>
              </a:rPr>
              <a:t>MVP Roadmap</a:t>
            </a:r>
            <a:endParaRPr lang="en-US" sz="2400" dirty="0"/>
          </a:p>
        </p:txBody>
      </p:sp>
      <p:sp>
        <p:nvSpPr>
          <p:cNvPr id="5" name="Text 3"/>
          <p:cNvSpPr/>
          <p:nvPr/>
        </p:nvSpPr>
        <p:spPr>
          <a:xfrm>
            <a:off x="476250" y="1697831"/>
            <a:ext cx="4076700" cy="2286000"/>
          </a:xfrm>
          <a:prstGeom prst="rect">
            <a:avLst/>
          </a:prstGeom>
          <a:noFill/>
          <a:ln/>
        </p:spPr>
        <p:txBody>
          <a:bodyPr wrap="square" rtlCol="0" anchor="ctr"/>
          <a:lstStyle/>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Our minimum viable product map lists out the key screens and components we will need to create in order to provide the base functionality of our app.</a:t>
            </a:r>
            <a:endParaRPr lang="en-US" sz="1200" dirty="0"/>
          </a:p>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The aim is to get Pulse@KPU to a point where it provides real use for our users, which will allow us to conduct user testing and analysis.</a:t>
            </a:r>
            <a:endParaRPr lang="en-US" sz="1200" dirty="0"/>
          </a:p>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User feedback will inform us on where we can continue to build and take our web app next.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61D"/>
        </a:solidFill>
      </p:bgPr>
    </p:bg>
    <p:spTree>
      <p:nvGrpSpPr>
        <p:cNvPr id="1" name=""/>
        <p:cNvGrpSpPr/>
        <p:nvPr/>
      </p:nvGrpSpPr>
      <p:grpSpPr>
        <a:xfrm>
          <a:off x="0" y="0"/>
          <a:ext cx="0" cy="0"/>
          <a:chOff x="0" y="0"/>
          <a:chExt cx="0" cy="0"/>
        </a:xfrm>
      </p:grpSpPr>
      <p:sp>
        <p:nvSpPr>
          <p:cNvPr id="2" name="Shape 0"/>
          <p:cNvSpPr/>
          <p:nvPr/>
        </p:nvSpPr>
        <p:spPr>
          <a:xfrm>
            <a:off x="489589" y="2534498"/>
            <a:ext cx="8031793" cy="1194540"/>
          </a:xfrm>
          <a:prstGeom prst="rect">
            <a:avLst/>
          </a:prstGeom>
          <a:solidFill>
            <a:srgbClr val="FFFFFF"/>
          </a:solidFill>
          <a:ln w="17599">
            <a:solidFill>
              <a:srgbClr val="000000"/>
            </a:solidFill>
            <a:prstDash val="solid"/>
          </a:ln>
        </p:spPr>
      </p:sp>
      <p:pic>
        <p:nvPicPr>
          <p:cNvPr id="3" name="Image 0" descr="preencoded.png">    </p:cNvPr>
          <p:cNvPicPr>
            <a:picLocks noChangeAspect="1"/>
          </p:cNvPicPr>
          <p:nvPr/>
        </p:nvPicPr>
        <p:blipFill>
          <a:blip r:embed="rId1"/>
          <a:stretch>
            <a:fillRect/>
          </a:stretch>
        </p:blipFill>
        <p:spPr>
          <a:xfrm>
            <a:off x="456595" y="2296910"/>
            <a:ext cx="1405728" cy="184791"/>
          </a:xfrm>
          <a:prstGeom prst="rect">
            <a:avLst/>
          </a:prstGeom>
        </p:spPr>
      </p:pic>
      <p:pic>
        <p:nvPicPr>
          <p:cNvPr id="4" name="Image 1" descr="preencoded.png">    </p:cNvPr>
          <p:cNvPicPr>
            <a:picLocks noChangeAspect="1"/>
          </p:cNvPicPr>
          <p:nvPr/>
        </p:nvPicPr>
        <p:blipFill>
          <a:blip r:embed="rId2"/>
          <a:stretch>
            <a:fillRect/>
          </a:stretch>
        </p:blipFill>
        <p:spPr>
          <a:xfrm>
            <a:off x="6290695" y="2527898"/>
            <a:ext cx="4949" cy="1201139"/>
          </a:xfrm>
          <a:prstGeom prst="rect">
            <a:avLst/>
          </a:prstGeom>
        </p:spPr>
      </p:pic>
      <p:pic>
        <p:nvPicPr>
          <p:cNvPr id="5" name="Image 2" descr="preencoded.png">    </p:cNvPr>
          <p:cNvPicPr>
            <a:picLocks noChangeAspect="1"/>
          </p:cNvPicPr>
          <p:nvPr/>
        </p:nvPicPr>
        <p:blipFill>
          <a:blip r:embed="rId3"/>
          <a:stretch>
            <a:fillRect/>
          </a:stretch>
        </p:blipFill>
        <p:spPr>
          <a:xfrm>
            <a:off x="1862324" y="2527898"/>
            <a:ext cx="6604" cy="1201139"/>
          </a:xfrm>
          <a:prstGeom prst="rect">
            <a:avLst/>
          </a:prstGeom>
        </p:spPr>
      </p:pic>
      <p:pic>
        <p:nvPicPr>
          <p:cNvPr id="6" name="Image 3" descr="preencoded.png">    </p:cNvPr>
          <p:cNvPicPr>
            <a:picLocks noChangeAspect="1"/>
          </p:cNvPicPr>
          <p:nvPr/>
        </p:nvPicPr>
        <p:blipFill>
          <a:blip r:embed="rId4"/>
          <a:stretch>
            <a:fillRect/>
          </a:stretch>
        </p:blipFill>
        <p:spPr>
          <a:xfrm>
            <a:off x="2726875" y="2527898"/>
            <a:ext cx="6604" cy="1201139"/>
          </a:xfrm>
          <a:prstGeom prst="rect">
            <a:avLst/>
          </a:prstGeom>
        </p:spPr>
      </p:pic>
      <p:pic>
        <p:nvPicPr>
          <p:cNvPr id="7" name="Image 4" descr="preencoded.png">    </p:cNvPr>
          <p:cNvPicPr>
            <a:picLocks noChangeAspect="1"/>
          </p:cNvPicPr>
          <p:nvPr/>
        </p:nvPicPr>
        <p:blipFill>
          <a:blip r:embed="rId5"/>
          <a:stretch>
            <a:fillRect/>
          </a:stretch>
        </p:blipFill>
        <p:spPr>
          <a:xfrm>
            <a:off x="4277795" y="3082270"/>
            <a:ext cx="923953" cy="554372"/>
          </a:xfrm>
          <a:prstGeom prst="rect">
            <a:avLst/>
          </a:prstGeom>
        </p:spPr>
      </p:pic>
      <p:pic>
        <p:nvPicPr>
          <p:cNvPr id="8" name="Image 5" descr="preencoded.png">    </p:cNvPr>
          <p:cNvPicPr>
            <a:picLocks noChangeAspect="1"/>
          </p:cNvPicPr>
          <p:nvPr/>
        </p:nvPicPr>
        <p:blipFill>
          <a:blip r:embed="rId6"/>
          <a:stretch>
            <a:fillRect/>
          </a:stretch>
        </p:blipFill>
        <p:spPr>
          <a:xfrm>
            <a:off x="1915120" y="2296910"/>
            <a:ext cx="811755" cy="184791"/>
          </a:xfrm>
          <a:prstGeom prst="rect">
            <a:avLst/>
          </a:prstGeom>
        </p:spPr>
      </p:pic>
      <p:pic>
        <p:nvPicPr>
          <p:cNvPr id="9" name="Image 6" descr="preencoded.png">    </p:cNvPr>
          <p:cNvPicPr>
            <a:picLocks noChangeAspect="1"/>
          </p:cNvPicPr>
          <p:nvPr/>
        </p:nvPicPr>
        <p:blipFill>
          <a:blip r:embed="rId7"/>
          <a:stretch>
            <a:fillRect/>
          </a:stretch>
        </p:blipFill>
        <p:spPr>
          <a:xfrm>
            <a:off x="2786276" y="2296910"/>
            <a:ext cx="3504419" cy="184791"/>
          </a:xfrm>
          <a:prstGeom prst="rect">
            <a:avLst/>
          </a:prstGeom>
        </p:spPr>
      </p:pic>
      <p:pic>
        <p:nvPicPr>
          <p:cNvPr id="10" name="Image 7" descr="preencoded.png">    </p:cNvPr>
          <p:cNvPicPr>
            <a:picLocks noChangeAspect="1"/>
          </p:cNvPicPr>
          <p:nvPr/>
        </p:nvPicPr>
        <p:blipFill>
          <a:blip r:embed="rId8"/>
          <a:stretch>
            <a:fillRect/>
          </a:stretch>
        </p:blipFill>
        <p:spPr>
          <a:xfrm>
            <a:off x="6348617" y="2293219"/>
            <a:ext cx="2171700" cy="185738"/>
          </a:xfrm>
          <a:prstGeom prst="rect">
            <a:avLst/>
          </a:prstGeom>
        </p:spPr>
      </p:pic>
      <p:pic>
        <p:nvPicPr>
          <p:cNvPr id="11" name="Image 8" descr="preencoded.png">    </p:cNvPr>
          <p:cNvPicPr>
            <a:picLocks noChangeAspect="1"/>
          </p:cNvPicPr>
          <p:nvPr/>
        </p:nvPicPr>
        <p:blipFill>
          <a:blip r:embed="rId9"/>
          <a:stretch>
            <a:fillRect/>
          </a:stretch>
        </p:blipFill>
        <p:spPr>
          <a:xfrm>
            <a:off x="1004367" y="2745687"/>
            <a:ext cx="864561" cy="356382"/>
          </a:xfrm>
          <a:prstGeom prst="rect">
            <a:avLst/>
          </a:prstGeom>
        </p:spPr>
      </p:pic>
      <p:pic>
        <p:nvPicPr>
          <p:cNvPr id="12" name="Image 9" descr="preencoded.png">    </p:cNvPr>
          <p:cNvPicPr>
            <a:picLocks noChangeAspect="1"/>
          </p:cNvPicPr>
          <p:nvPr/>
        </p:nvPicPr>
        <p:blipFill>
          <a:blip r:embed="rId10"/>
          <a:stretch>
            <a:fillRect/>
          </a:stretch>
        </p:blipFill>
        <p:spPr>
          <a:xfrm>
            <a:off x="2179104" y="3300059"/>
            <a:ext cx="547771" cy="428978"/>
          </a:xfrm>
          <a:prstGeom prst="rect">
            <a:avLst/>
          </a:prstGeom>
        </p:spPr>
      </p:pic>
      <p:pic>
        <p:nvPicPr>
          <p:cNvPr id="13" name="Image 10" descr="preencoded.png">    </p:cNvPr>
          <p:cNvPicPr>
            <a:picLocks noChangeAspect="1"/>
          </p:cNvPicPr>
          <p:nvPr/>
        </p:nvPicPr>
        <p:blipFill>
          <a:blip r:embed="rId11"/>
          <a:stretch>
            <a:fillRect/>
          </a:stretch>
        </p:blipFill>
        <p:spPr>
          <a:xfrm>
            <a:off x="2179104" y="3300059"/>
            <a:ext cx="554375" cy="435578"/>
          </a:xfrm>
          <a:prstGeom prst="rect">
            <a:avLst/>
          </a:prstGeom>
        </p:spPr>
      </p:pic>
      <p:pic>
        <p:nvPicPr>
          <p:cNvPr id="14" name="Image 11" descr="preencoded.png">    </p:cNvPr>
          <p:cNvPicPr>
            <a:picLocks noChangeAspect="1"/>
          </p:cNvPicPr>
          <p:nvPr/>
        </p:nvPicPr>
        <p:blipFill>
          <a:blip r:embed="rId12"/>
          <a:stretch>
            <a:fillRect/>
          </a:stretch>
        </p:blipFill>
        <p:spPr>
          <a:xfrm>
            <a:off x="1862324" y="2963476"/>
            <a:ext cx="560970" cy="336583"/>
          </a:xfrm>
          <a:prstGeom prst="rect">
            <a:avLst/>
          </a:prstGeom>
        </p:spPr>
      </p:pic>
      <p:pic>
        <p:nvPicPr>
          <p:cNvPr id="15" name="Image 12" descr="preencoded.png">    </p:cNvPr>
          <p:cNvPicPr>
            <a:picLocks noChangeAspect="1"/>
          </p:cNvPicPr>
          <p:nvPr/>
        </p:nvPicPr>
        <p:blipFill>
          <a:blip r:embed="rId13"/>
          <a:stretch>
            <a:fillRect/>
          </a:stretch>
        </p:blipFill>
        <p:spPr>
          <a:xfrm>
            <a:off x="1862324" y="2963476"/>
            <a:ext cx="567575" cy="343183"/>
          </a:xfrm>
          <a:prstGeom prst="rect">
            <a:avLst/>
          </a:prstGeom>
        </p:spPr>
      </p:pic>
      <p:pic>
        <p:nvPicPr>
          <p:cNvPr id="16" name="Image 13" descr="preencoded.png">    </p:cNvPr>
          <p:cNvPicPr>
            <a:picLocks noChangeAspect="1"/>
          </p:cNvPicPr>
          <p:nvPr/>
        </p:nvPicPr>
        <p:blipFill>
          <a:blip r:embed="rId14"/>
          <a:stretch>
            <a:fillRect/>
          </a:stretch>
        </p:blipFill>
        <p:spPr>
          <a:xfrm>
            <a:off x="1862324" y="2534498"/>
            <a:ext cx="560970" cy="428978"/>
          </a:xfrm>
          <a:prstGeom prst="rect">
            <a:avLst/>
          </a:prstGeom>
        </p:spPr>
      </p:pic>
      <p:pic>
        <p:nvPicPr>
          <p:cNvPr id="17" name="Image 14" descr="preencoded.png">    </p:cNvPr>
          <p:cNvPicPr>
            <a:picLocks noChangeAspect="1"/>
          </p:cNvPicPr>
          <p:nvPr/>
        </p:nvPicPr>
        <p:blipFill>
          <a:blip r:embed="rId15"/>
          <a:stretch>
            <a:fillRect/>
          </a:stretch>
        </p:blipFill>
        <p:spPr>
          <a:xfrm>
            <a:off x="1862324" y="2534498"/>
            <a:ext cx="567575" cy="435578"/>
          </a:xfrm>
          <a:prstGeom prst="rect">
            <a:avLst/>
          </a:prstGeom>
        </p:spPr>
      </p:pic>
      <p:pic>
        <p:nvPicPr>
          <p:cNvPr id="18" name="Image 15" descr="preencoded.png">    </p:cNvPr>
          <p:cNvPicPr>
            <a:picLocks noChangeAspect="1"/>
          </p:cNvPicPr>
          <p:nvPr/>
        </p:nvPicPr>
        <p:blipFill>
          <a:blip r:embed="rId16"/>
          <a:stretch>
            <a:fillRect/>
          </a:stretch>
        </p:blipFill>
        <p:spPr>
          <a:xfrm>
            <a:off x="2726875" y="2534498"/>
            <a:ext cx="1043220" cy="546491"/>
          </a:xfrm>
          <a:prstGeom prst="rect">
            <a:avLst/>
          </a:prstGeom>
        </p:spPr>
      </p:pic>
      <p:pic>
        <p:nvPicPr>
          <p:cNvPr id="19" name="Image 16" descr="preencoded.png">    </p:cNvPr>
          <p:cNvPicPr>
            <a:picLocks noChangeAspect="1"/>
          </p:cNvPicPr>
          <p:nvPr/>
        </p:nvPicPr>
        <p:blipFill>
          <a:blip r:embed="rId17"/>
          <a:stretch>
            <a:fillRect/>
          </a:stretch>
        </p:blipFill>
        <p:spPr>
          <a:xfrm>
            <a:off x="2726875" y="2534498"/>
            <a:ext cx="1049824" cy="553090"/>
          </a:xfrm>
          <a:prstGeom prst="rect">
            <a:avLst/>
          </a:prstGeom>
        </p:spPr>
      </p:pic>
      <p:pic>
        <p:nvPicPr>
          <p:cNvPr id="20" name="Image 17" descr="preencoded.png">    </p:cNvPr>
          <p:cNvPicPr>
            <a:picLocks noChangeAspect="1"/>
          </p:cNvPicPr>
          <p:nvPr/>
        </p:nvPicPr>
        <p:blipFill>
          <a:blip r:embed="rId18"/>
          <a:stretch>
            <a:fillRect/>
          </a:stretch>
        </p:blipFill>
        <p:spPr>
          <a:xfrm>
            <a:off x="7802017" y="2534498"/>
            <a:ext cx="719361" cy="546491"/>
          </a:xfrm>
          <a:prstGeom prst="rect">
            <a:avLst/>
          </a:prstGeom>
        </p:spPr>
      </p:pic>
      <p:pic>
        <p:nvPicPr>
          <p:cNvPr id="21" name="Image 18" descr="preencoded.png">    </p:cNvPr>
          <p:cNvPicPr>
            <a:picLocks noChangeAspect="1"/>
          </p:cNvPicPr>
          <p:nvPr/>
        </p:nvPicPr>
        <p:blipFill>
          <a:blip r:embed="rId19"/>
          <a:stretch>
            <a:fillRect/>
          </a:stretch>
        </p:blipFill>
        <p:spPr>
          <a:xfrm>
            <a:off x="7802017" y="2534498"/>
            <a:ext cx="725965" cy="553090"/>
          </a:xfrm>
          <a:prstGeom prst="rect">
            <a:avLst/>
          </a:prstGeom>
        </p:spPr>
      </p:pic>
      <p:pic>
        <p:nvPicPr>
          <p:cNvPr id="22" name="Image 19" descr="preencoded.png">    </p:cNvPr>
          <p:cNvPicPr>
            <a:picLocks noChangeAspect="1"/>
          </p:cNvPicPr>
          <p:nvPr/>
        </p:nvPicPr>
        <p:blipFill>
          <a:blip r:embed="rId20"/>
          <a:stretch>
            <a:fillRect/>
          </a:stretch>
        </p:blipFill>
        <p:spPr>
          <a:xfrm>
            <a:off x="6290695" y="3082270"/>
            <a:ext cx="1511322" cy="546491"/>
          </a:xfrm>
          <a:prstGeom prst="rect">
            <a:avLst/>
          </a:prstGeom>
        </p:spPr>
      </p:pic>
      <p:pic>
        <p:nvPicPr>
          <p:cNvPr id="23" name="Image 20" descr="preencoded.png">    </p:cNvPr>
          <p:cNvPicPr>
            <a:picLocks noChangeAspect="1"/>
          </p:cNvPicPr>
          <p:nvPr/>
        </p:nvPicPr>
        <p:blipFill>
          <a:blip r:embed="rId21"/>
          <a:stretch>
            <a:fillRect/>
          </a:stretch>
        </p:blipFill>
        <p:spPr>
          <a:xfrm>
            <a:off x="6290695" y="3082270"/>
            <a:ext cx="1517926" cy="553090"/>
          </a:xfrm>
          <a:prstGeom prst="rect">
            <a:avLst/>
          </a:prstGeom>
        </p:spPr>
      </p:pic>
      <p:pic>
        <p:nvPicPr>
          <p:cNvPr id="24" name="Image 21" descr="preencoded.png">    </p:cNvPr>
          <p:cNvPicPr>
            <a:picLocks noChangeAspect="1"/>
          </p:cNvPicPr>
          <p:nvPr/>
        </p:nvPicPr>
        <p:blipFill>
          <a:blip r:embed="rId22"/>
          <a:stretch>
            <a:fillRect/>
          </a:stretch>
        </p:blipFill>
        <p:spPr>
          <a:xfrm>
            <a:off x="6290695" y="2534498"/>
            <a:ext cx="1511322" cy="546491"/>
          </a:xfrm>
          <a:prstGeom prst="rect">
            <a:avLst/>
          </a:prstGeom>
        </p:spPr>
      </p:pic>
      <p:pic>
        <p:nvPicPr>
          <p:cNvPr id="25" name="Image 22" descr="preencoded.png">    </p:cNvPr>
          <p:cNvPicPr>
            <a:picLocks noChangeAspect="1"/>
          </p:cNvPicPr>
          <p:nvPr/>
        </p:nvPicPr>
        <p:blipFill>
          <a:blip r:embed="rId23"/>
          <a:stretch>
            <a:fillRect/>
          </a:stretch>
        </p:blipFill>
        <p:spPr>
          <a:xfrm>
            <a:off x="6290695" y="2534498"/>
            <a:ext cx="1517926" cy="553090"/>
          </a:xfrm>
          <a:prstGeom prst="rect">
            <a:avLst/>
          </a:prstGeom>
        </p:spPr>
      </p:pic>
      <p:pic>
        <p:nvPicPr>
          <p:cNvPr id="26" name="Image 23" descr="preencoded.png">    </p:cNvPr>
          <p:cNvPicPr>
            <a:picLocks noChangeAspect="1"/>
          </p:cNvPicPr>
          <p:nvPr/>
        </p:nvPicPr>
        <p:blipFill>
          <a:blip r:embed="rId24"/>
          <a:stretch>
            <a:fillRect/>
          </a:stretch>
        </p:blipFill>
        <p:spPr>
          <a:xfrm>
            <a:off x="4779373" y="2534498"/>
            <a:ext cx="1511322" cy="546491"/>
          </a:xfrm>
          <a:prstGeom prst="rect">
            <a:avLst/>
          </a:prstGeom>
        </p:spPr>
      </p:pic>
      <p:pic>
        <p:nvPicPr>
          <p:cNvPr id="27" name="Image 24" descr="preencoded.png">    </p:cNvPr>
          <p:cNvPicPr>
            <a:picLocks noChangeAspect="1"/>
          </p:cNvPicPr>
          <p:nvPr/>
        </p:nvPicPr>
        <p:blipFill>
          <a:blip r:embed="rId25"/>
          <a:stretch>
            <a:fillRect/>
          </a:stretch>
        </p:blipFill>
        <p:spPr>
          <a:xfrm>
            <a:off x="4779373" y="2534498"/>
            <a:ext cx="1517926" cy="553090"/>
          </a:xfrm>
          <a:prstGeom prst="rect">
            <a:avLst/>
          </a:prstGeom>
        </p:spPr>
      </p:pic>
      <p:pic>
        <p:nvPicPr>
          <p:cNvPr id="28" name="Image 25" descr="preencoded.png">    </p:cNvPr>
          <p:cNvPicPr>
            <a:picLocks noChangeAspect="1"/>
          </p:cNvPicPr>
          <p:nvPr/>
        </p:nvPicPr>
        <p:blipFill>
          <a:blip r:embed="rId26"/>
          <a:stretch>
            <a:fillRect/>
          </a:stretch>
        </p:blipFill>
        <p:spPr>
          <a:xfrm>
            <a:off x="3769621" y="2534498"/>
            <a:ext cx="1009752" cy="546491"/>
          </a:xfrm>
          <a:prstGeom prst="rect">
            <a:avLst/>
          </a:prstGeom>
        </p:spPr>
      </p:pic>
      <p:pic>
        <p:nvPicPr>
          <p:cNvPr id="29" name="Image 26" descr="preencoded.png">    </p:cNvPr>
          <p:cNvPicPr>
            <a:picLocks noChangeAspect="1"/>
          </p:cNvPicPr>
          <p:nvPr/>
        </p:nvPicPr>
        <p:blipFill>
          <a:blip r:embed="rId27"/>
          <a:stretch>
            <a:fillRect/>
          </a:stretch>
        </p:blipFill>
        <p:spPr>
          <a:xfrm>
            <a:off x="3769621" y="2534498"/>
            <a:ext cx="1016347" cy="553090"/>
          </a:xfrm>
          <a:prstGeom prst="rect">
            <a:avLst/>
          </a:prstGeom>
        </p:spPr>
      </p:pic>
      <p:pic>
        <p:nvPicPr>
          <p:cNvPr id="30" name="Image 27" descr="preencoded.png">    </p:cNvPr>
          <p:cNvPicPr>
            <a:picLocks noChangeAspect="1"/>
          </p:cNvPicPr>
          <p:nvPr/>
        </p:nvPicPr>
        <p:blipFill>
          <a:blip r:embed="rId28"/>
          <a:stretch>
            <a:fillRect/>
          </a:stretch>
        </p:blipFill>
        <p:spPr>
          <a:xfrm>
            <a:off x="5195153" y="3082270"/>
            <a:ext cx="1095542" cy="546491"/>
          </a:xfrm>
          <a:prstGeom prst="rect">
            <a:avLst/>
          </a:prstGeom>
        </p:spPr>
      </p:pic>
      <p:pic>
        <p:nvPicPr>
          <p:cNvPr id="31" name="Image 28" descr="preencoded.png">    </p:cNvPr>
          <p:cNvPicPr>
            <a:picLocks noChangeAspect="1"/>
          </p:cNvPicPr>
          <p:nvPr/>
        </p:nvPicPr>
        <p:blipFill>
          <a:blip r:embed="rId29"/>
          <a:stretch>
            <a:fillRect/>
          </a:stretch>
        </p:blipFill>
        <p:spPr>
          <a:xfrm>
            <a:off x="5195153" y="3082270"/>
            <a:ext cx="1102147" cy="553090"/>
          </a:xfrm>
          <a:prstGeom prst="rect">
            <a:avLst/>
          </a:prstGeom>
        </p:spPr>
      </p:pic>
      <p:pic>
        <p:nvPicPr>
          <p:cNvPr id="32" name="Image 29" descr="preencoded.png">    </p:cNvPr>
          <p:cNvPicPr>
            <a:picLocks noChangeAspect="1"/>
          </p:cNvPicPr>
          <p:nvPr/>
        </p:nvPicPr>
        <p:blipFill>
          <a:blip r:embed="rId30"/>
          <a:stretch>
            <a:fillRect/>
          </a:stretch>
        </p:blipFill>
        <p:spPr>
          <a:xfrm>
            <a:off x="640528" y="2534498"/>
            <a:ext cx="653365" cy="210529"/>
          </a:xfrm>
          <a:prstGeom prst="rect">
            <a:avLst/>
          </a:prstGeom>
        </p:spPr>
      </p:pic>
      <p:pic>
        <p:nvPicPr>
          <p:cNvPr id="33" name="Image 30" descr="preencoded.png">    </p:cNvPr>
          <p:cNvPicPr>
            <a:picLocks noChangeAspect="1"/>
          </p:cNvPicPr>
          <p:nvPr/>
        </p:nvPicPr>
        <p:blipFill>
          <a:blip r:embed="rId31"/>
          <a:stretch>
            <a:fillRect/>
          </a:stretch>
        </p:blipFill>
        <p:spPr>
          <a:xfrm>
            <a:off x="640528" y="2534498"/>
            <a:ext cx="659969" cy="217129"/>
          </a:xfrm>
          <a:prstGeom prst="rect">
            <a:avLst/>
          </a:prstGeom>
        </p:spPr>
      </p:pic>
      <p:sp>
        <p:nvSpPr>
          <p:cNvPr id="34" name="Text 1"/>
          <p:cNvSpPr/>
          <p:nvPr/>
        </p:nvSpPr>
        <p:spPr>
          <a:xfrm>
            <a:off x="304800" y="1504950"/>
            <a:ext cx="1676400" cy="238125"/>
          </a:xfrm>
          <a:prstGeom prst="rect">
            <a:avLst/>
          </a:prstGeom>
          <a:noFill/>
          <a:ln/>
        </p:spPr>
        <p:txBody>
          <a:bodyPr wrap="square" rtlCol="0" anchor="ctr"/>
          <a:lstStyle/>
          <a:p>
            <a:pPr algn="l" indent="0" marL="0">
              <a:lnSpc>
                <a:spcPts val="1892"/>
              </a:lnSpc>
              <a:buNone/>
            </a:pPr>
            <a:r>
              <a:rPr lang="en-US" sz="1455" dirty="0">
                <a:solidFill>
                  <a:srgbClr val="FFFFFF">
                    <a:alpha val="99000"/>
                  </a:srgbClr>
                </a:solidFill>
                <a:latin typeface="IBM Plex Sans" pitchFamily="34" charset="0"/>
                <a:ea typeface="IBM Plex Sans" pitchFamily="34" charset="-122"/>
                <a:cs typeface="IBM Plex Sans" pitchFamily="34" charset="-120"/>
              </a:rPr>
              <a:t>26 JUNE 2024</a:t>
            </a:r>
            <a:endParaRPr lang="en-US" sz="1455" dirty="0"/>
          </a:p>
        </p:txBody>
      </p:sp>
      <p:sp>
        <p:nvSpPr>
          <p:cNvPr id="35" name="Text 2"/>
          <p:cNvSpPr/>
          <p:nvPr/>
        </p:nvSpPr>
        <p:spPr>
          <a:xfrm>
            <a:off x="489589" y="1907529"/>
            <a:ext cx="10422696" cy="666566"/>
          </a:xfrm>
          <a:prstGeom prst="rect">
            <a:avLst/>
          </a:prstGeom>
          <a:noFill/>
          <a:ln/>
        </p:spPr>
        <p:txBody>
          <a:bodyPr wrap="square" rtlCol="0" anchor="ctr"/>
          <a:lstStyle/>
          <a:p>
            <a:pPr algn="l" indent="0" marL="0">
              <a:lnSpc>
                <a:spcPts val="2993"/>
              </a:lnSpc>
              <a:buNone/>
            </a:pPr>
            <a:r>
              <a:rPr lang="en-US" sz="1871" spc="-19" kern="0" dirty="0">
                <a:solidFill>
                  <a:srgbClr val="F8F8FF">
                    <a:alpha val="99000"/>
                  </a:srgbClr>
                </a:solidFill>
                <a:latin typeface="IBM Plex Sans" pitchFamily="34" charset="0"/>
                <a:ea typeface="IBM Plex Sans" pitchFamily="34" charset="-122"/>
                <a:cs typeface="IBM Plex Sans" pitchFamily="34" charset="-120"/>
              </a:rPr>
              <a:t>Development Roadmap</a:t>
            </a:r>
            <a:endParaRPr lang="en-US" sz="1871" dirty="0"/>
          </a:p>
        </p:txBody>
      </p:sp>
      <p:sp>
        <p:nvSpPr>
          <p:cNvPr id="36" name="Text 3"/>
          <p:cNvSpPr/>
          <p:nvPr/>
        </p:nvSpPr>
        <p:spPr>
          <a:xfrm>
            <a:off x="495337" y="2329908"/>
            <a:ext cx="1076325" cy="119063"/>
          </a:xfrm>
          <a:prstGeom prst="rect">
            <a:avLst/>
          </a:prstGeom>
          <a:noFill/>
          <a:ln/>
        </p:spPr>
        <p:txBody>
          <a:bodyPr wrap="square" rtlCol="0" anchor="ctr"/>
          <a:lstStyle/>
          <a:p>
            <a:pPr algn="l" indent="0" marL="0">
              <a:lnSpc>
                <a:spcPts val="935"/>
              </a:lnSpc>
              <a:buNone/>
            </a:pPr>
            <a:r>
              <a:rPr lang="en-US" sz="831" spc="-4" kern="0" dirty="0">
                <a:solidFill>
                  <a:srgbClr val="FFFFFF">
                    <a:alpha val="99000"/>
                  </a:srgbClr>
                </a:solidFill>
                <a:latin typeface="Actor" pitchFamily="34" charset="0"/>
                <a:ea typeface="Actor" pitchFamily="34" charset="-122"/>
                <a:cs typeface="Actor" pitchFamily="34" charset="-120"/>
              </a:rPr>
              <a:t>01 RESEARCH</a:t>
            </a:r>
            <a:endParaRPr lang="en-US" sz="831" dirty="0"/>
          </a:p>
        </p:txBody>
      </p:sp>
      <p:sp>
        <p:nvSpPr>
          <p:cNvPr id="37" name="Text 4"/>
          <p:cNvSpPr/>
          <p:nvPr/>
        </p:nvSpPr>
        <p:spPr>
          <a:xfrm>
            <a:off x="1954718" y="2329908"/>
            <a:ext cx="1691338" cy="119063"/>
          </a:xfrm>
          <a:prstGeom prst="rect">
            <a:avLst/>
          </a:prstGeom>
          <a:noFill/>
          <a:ln/>
        </p:spPr>
        <p:txBody>
          <a:bodyPr wrap="square" rtlCol="0" anchor="ctr"/>
          <a:lstStyle/>
          <a:p>
            <a:pPr algn="l" indent="0" marL="0">
              <a:lnSpc>
                <a:spcPts val="935"/>
              </a:lnSpc>
              <a:buNone/>
            </a:pPr>
            <a:r>
              <a:rPr lang="en-US" sz="831" spc="-8" kern="0" dirty="0">
                <a:solidFill>
                  <a:srgbClr val="FFFFFF">
                    <a:alpha val="99000"/>
                  </a:srgbClr>
                </a:solidFill>
                <a:latin typeface="Actor" pitchFamily="34" charset="0"/>
                <a:ea typeface="Actor" pitchFamily="34" charset="-122"/>
                <a:cs typeface="Actor" pitchFamily="34" charset="-120"/>
              </a:rPr>
              <a:t>02 STRATEGY</a:t>
            </a:r>
            <a:endParaRPr lang="en-US" sz="831" dirty="0"/>
          </a:p>
        </p:txBody>
      </p:sp>
      <p:sp>
        <p:nvSpPr>
          <p:cNvPr id="38" name="Text 5"/>
          <p:cNvSpPr/>
          <p:nvPr/>
        </p:nvSpPr>
        <p:spPr>
          <a:xfrm>
            <a:off x="2852272" y="2329908"/>
            <a:ext cx="1189763" cy="119063"/>
          </a:xfrm>
          <a:prstGeom prst="rect">
            <a:avLst/>
          </a:prstGeom>
          <a:noFill/>
          <a:ln/>
        </p:spPr>
        <p:txBody>
          <a:bodyPr wrap="square" rtlCol="0" anchor="ctr"/>
          <a:lstStyle/>
          <a:p>
            <a:pPr algn="l" indent="0" marL="0">
              <a:lnSpc>
                <a:spcPts val="935"/>
              </a:lnSpc>
              <a:buNone/>
            </a:pPr>
            <a:r>
              <a:rPr lang="en-US" sz="831" dirty="0">
                <a:solidFill>
                  <a:srgbClr val="FFFFFF">
                    <a:alpha val="99000"/>
                  </a:srgbClr>
                </a:solidFill>
                <a:latin typeface="Actor" pitchFamily="34" charset="0"/>
                <a:ea typeface="Actor" pitchFamily="34" charset="-122"/>
                <a:cs typeface="Actor" pitchFamily="34" charset="-120"/>
              </a:rPr>
              <a:t>03 DESIGN</a:t>
            </a:r>
            <a:endParaRPr lang="en-US" sz="831" dirty="0"/>
          </a:p>
        </p:txBody>
      </p:sp>
      <p:sp>
        <p:nvSpPr>
          <p:cNvPr id="39" name="Text 6"/>
          <p:cNvSpPr/>
          <p:nvPr/>
        </p:nvSpPr>
        <p:spPr>
          <a:xfrm>
            <a:off x="6396289" y="2329908"/>
            <a:ext cx="2707686" cy="119063"/>
          </a:xfrm>
          <a:prstGeom prst="rect">
            <a:avLst/>
          </a:prstGeom>
          <a:noFill/>
          <a:ln/>
        </p:spPr>
        <p:txBody>
          <a:bodyPr wrap="square" rtlCol="0" anchor="ctr"/>
          <a:lstStyle/>
          <a:p>
            <a:pPr algn="l" indent="0" marL="0">
              <a:lnSpc>
                <a:spcPts val="935"/>
              </a:lnSpc>
              <a:buNone/>
            </a:pPr>
            <a:r>
              <a:rPr lang="en-US" sz="831" dirty="0">
                <a:solidFill>
                  <a:srgbClr val="FFFFFF">
                    <a:alpha val="99000"/>
                  </a:srgbClr>
                </a:solidFill>
                <a:latin typeface="Actor" pitchFamily="34" charset="0"/>
                <a:ea typeface="Actor" pitchFamily="34" charset="-122"/>
                <a:cs typeface="Actor" pitchFamily="34" charset="-120"/>
              </a:rPr>
              <a:t>04 DEVELOPMENT</a:t>
            </a:r>
            <a:endParaRPr lang="en-US" sz="831" dirty="0"/>
          </a:p>
        </p:txBody>
      </p:sp>
      <p:sp>
        <p:nvSpPr>
          <p:cNvPr id="40" name="Text 7"/>
          <p:cNvSpPr/>
          <p:nvPr/>
        </p:nvSpPr>
        <p:spPr>
          <a:xfrm>
            <a:off x="686730" y="2593234"/>
            <a:ext cx="733425" cy="114300"/>
          </a:xfrm>
          <a:prstGeom prst="rect">
            <a:avLst/>
          </a:prstGeom>
          <a:noFill/>
          <a:ln/>
        </p:spPr>
        <p:txBody>
          <a:bodyPr wrap="square" rtlCol="0" anchor="ctr"/>
          <a:lstStyle/>
          <a:p>
            <a:pPr algn="l" indent="0" marL="0">
              <a:lnSpc>
                <a:spcPts val="883"/>
              </a:lnSpc>
              <a:buNone/>
            </a:pPr>
            <a:r>
              <a:rPr lang="en-US" sz="728" dirty="0">
                <a:solidFill>
                  <a:srgbClr val="000000">
                    <a:alpha val="99000"/>
                  </a:srgbClr>
                </a:solidFill>
                <a:latin typeface="Actor" pitchFamily="34" charset="0"/>
                <a:ea typeface="Actor" pitchFamily="34" charset="-122"/>
                <a:cs typeface="Actor" pitchFamily="34" charset="-120"/>
              </a:rPr>
              <a:t>Kickoff</a:t>
            </a:r>
            <a:endParaRPr lang="en-US" sz="728" dirty="0"/>
          </a:p>
        </p:txBody>
      </p:sp>
      <p:sp>
        <p:nvSpPr>
          <p:cNvPr id="41" name="Text 8"/>
          <p:cNvSpPr/>
          <p:nvPr/>
        </p:nvSpPr>
        <p:spPr>
          <a:xfrm>
            <a:off x="4356999" y="3102069"/>
            <a:ext cx="1400952" cy="114300"/>
          </a:xfrm>
          <a:prstGeom prst="rect">
            <a:avLst/>
          </a:prstGeom>
          <a:noFill/>
          <a:ln/>
        </p:spPr>
        <p:txBody>
          <a:bodyPr wrap="square" rtlCol="0" anchor="ctr"/>
          <a:lstStyle/>
          <a:p>
            <a:pPr algn="l" indent="0" marL="0">
              <a:lnSpc>
                <a:spcPts val="883"/>
              </a:lnSpc>
              <a:buNone/>
            </a:pPr>
            <a:r>
              <a:rPr lang="en-US" sz="728" dirty="0">
                <a:solidFill>
                  <a:srgbClr val="000000">
                    <a:alpha val="99000"/>
                  </a:srgbClr>
                </a:solidFill>
                <a:latin typeface="Actor" pitchFamily="34" charset="0"/>
                <a:ea typeface="Actor" pitchFamily="34" charset="-122"/>
                <a:cs typeface="Actor" pitchFamily="34" charset="-120"/>
              </a:rPr>
              <a:t>User feedback</a:t>
            </a:r>
            <a:endParaRPr lang="en-US" sz="728" dirty="0"/>
          </a:p>
        </p:txBody>
      </p:sp>
      <p:sp>
        <p:nvSpPr>
          <p:cNvPr id="42" name="Text 9"/>
          <p:cNvSpPr/>
          <p:nvPr/>
        </p:nvSpPr>
        <p:spPr>
          <a:xfrm>
            <a:off x="5251252" y="3092895"/>
            <a:ext cx="945575" cy="228600"/>
          </a:xfrm>
          <a:prstGeom prst="rect">
            <a:avLst/>
          </a:prstGeom>
          <a:noFill/>
          <a:ln/>
        </p:spPr>
        <p:txBody>
          <a:bodyPr wrap="square" rtlCol="0" anchor="ctr"/>
          <a:lstStyle/>
          <a:p>
            <a:pPr algn="l" indent="0" marL="0">
              <a:lnSpc>
                <a:spcPts val="883"/>
              </a:lnSpc>
              <a:buNone/>
            </a:pPr>
            <a:r>
              <a:rPr lang="en-US" sz="728" dirty="0">
                <a:solidFill>
                  <a:srgbClr val="000000">
                    <a:alpha val="99000"/>
                  </a:srgbClr>
                </a:solidFill>
                <a:latin typeface="Actor" pitchFamily="34" charset="0"/>
                <a:ea typeface="Actor" pitchFamily="34" charset="-122"/>
                <a:cs typeface="Actor" pitchFamily="34" charset="-120"/>
              </a:rPr>
              <a:t>Usability testing</a:t>
            </a:r>
            <a:endParaRPr lang="en-US" sz="728" dirty="0"/>
          </a:p>
        </p:txBody>
      </p:sp>
      <p:sp>
        <p:nvSpPr>
          <p:cNvPr id="43" name="Text 10"/>
          <p:cNvSpPr/>
          <p:nvPr/>
        </p:nvSpPr>
        <p:spPr>
          <a:xfrm>
            <a:off x="2786276" y="2550997"/>
            <a:ext cx="1321756" cy="228600"/>
          </a:xfrm>
          <a:prstGeom prst="rect">
            <a:avLst/>
          </a:prstGeom>
          <a:noFill/>
          <a:ln/>
        </p:spPr>
        <p:txBody>
          <a:bodyPr wrap="square" rtlCol="0" anchor="ctr"/>
          <a:lstStyle/>
          <a:p>
            <a:pPr algn="l" indent="0" marL="0">
              <a:lnSpc>
                <a:spcPts val="883"/>
              </a:lnSpc>
              <a:buNone/>
            </a:pPr>
            <a:r>
              <a:rPr lang="en-US" sz="728" dirty="0">
                <a:solidFill>
                  <a:srgbClr val="000000">
                    <a:alpha val="99000"/>
                  </a:srgbClr>
                </a:solidFill>
                <a:latin typeface="Actor" pitchFamily="34" charset="0"/>
                <a:ea typeface="Actor" pitchFamily="34" charset="-122"/>
                <a:cs typeface="Actor" pitchFamily="34" charset="-120"/>
              </a:rPr>
              <a:t>Low Fidelity Wireframes</a:t>
            </a:r>
            <a:endParaRPr lang="en-US" sz="728" dirty="0"/>
          </a:p>
        </p:txBody>
      </p:sp>
      <p:sp>
        <p:nvSpPr>
          <p:cNvPr id="44" name="Text 11"/>
          <p:cNvSpPr/>
          <p:nvPr/>
        </p:nvSpPr>
        <p:spPr>
          <a:xfrm>
            <a:off x="3822418" y="2550997"/>
            <a:ext cx="1321756" cy="228600"/>
          </a:xfrm>
          <a:prstGeom prst="rect">
            <a:avLst/>
          </a:prstGeom>
          <a:noFill/>
          <a:ln/>
        </p:spPr>
        <p:txBody>
          <a:bodyPr wrap="square" rtlCol="0" anchor="ctr"/>
          <a:lstStyle/>
          <a:p>
            <a:pPr algn="l" indent="0" marL="0">
              <a:lnSpc>
                <a:spcPts val="883"/>
              </a:lnSpc>
              <a:buNone/>
            </a:pPr>
            <a:r>
              <a:rPr lang="en-US" sz="728" dirty="0">
                <a:solidFill>
                  <a:srgbClr val="000000">
                    <a:alpha val="99000"/>
                  </a:srgbClr>
                </a:solidFill>
                <a:latin typeface="Actor" pitchFamily="34" charset="0"/>
                <a:ea typeface="Actor" pitchFamily="34" charset="-122"/>
                <a:cs typeface="Actor" pitchFamily="34" charset="-120"/>
              </a:rPr>
              <a:t>Mid Fidelity Wireframes</a:t>
            </a:r>
            <a:endParaRPr lang="en-US" sz="728" dirty="0"/>
          </a:p>
        </p:txBody>
      </p:sp>
      <p:sp>
        <p:nvSpPr>
          <p:cNvPr id="45" name="Text 12"/>
          <p:cNvSpPr/>
          <p:nvPr/>
        </p:nvSpPr>
        <p:spPr>
          <a:xfrm>
            <a:off x="4832170" y="2550997"/>
            <a:ext cx="1321756" cy="228600"/>
          </a:xfrm>
          <a:prstGeom prst="rect">
            <a:avLst/>
          </a:prstGeom>
          <a:noFill/>
          <a:ln/>
        </p:spPr>
        <p:txBody>
          <a:bodyPr wrap="square" rtlCol="0" anchor="ctr"/>
          <a:lstStyle/>
          <a:p>
            <a:pPr algn="l" indent="0" marL="0">
              <a:lnSpc>
                <a:spcPts val="883"/>
              </a:lnSpc>
              <a:buNone/>
            </a:pPr>
            <a:r>
              <a:rPr lang="en-US" sz="728" dirty="0">
                <a:solidFill>
                  <a:srgbClr val="000000">
                    <a:alpha val="99000"/>
                  </a:srgbClr>
                </a:solidFill>
                <a:latin typeface="Actor" pitchFamily="34" charset="0"/>
                <a:ea typeface="Actor" pitchFamily="34" charset="-122"/>
                <a:cs typeface="Actor" pitchFamily="34" charset="-120"/>
              </a:rPr>
              <a:t>High Fidelity Prototype</a:t>
            </a:r>
            <a:endParaRPr lang="en-US" sz="728" dirty="0"/>
          </a:p>
        </p:txBody>
      </p:sp>
      <p:sp>
        <p:nvSpPr>
          <p:cNvPr id="46" name="Text 13"/>
          <p:cNvSpPr/>
          <p:nvPr/>
        </p:nvSpPr>
        <p:spPr>
          <a:xfrm>
            <a:off x="6350096" y="3102069"/>
            <a:ext cx="1737535" cy="338138"/>
          </a:xfrm>
          <a:prstGeom prst="rect">
            <a:avLst/>
          </a:prstGeom>
          <a:noFill/>
          <a:ln/>
        </p:spPr>
        <p:txBody>
          <a:bodyPr wrap="square" rtlCol="0" anchor="ctr"/>
          <a:lstStyle/>
          <a:p>
            <a:pPr algn="l" indent="0" marL="0">
              <a:lnSpc>
                <a:spcPts val="883"/>
              </a:lnSpc>
              <a:buNone/>
            </a:pPr>
            <a:r>
              <a:rPr lang="en-US" sz="728" dirty="0">
                <a:solidFill>
                  <a:srgbClr val="000000">
                    <a:alpha val="99000"/>
                  </a:srgbClr>
                </a:solidFill>
                <a:latin typeface="Actor" pitchFamily="34" charset="0"/>
                <a:ea typeface="Actor" pitchFamily="34" charset="-122"/>
                <a:cs typeface="Actor" pitchFamily="34" charset="-120"/>
              </a:rPr>
              <a:t>Development with React, Tailwind CSS, Shadcn, Hero Icons</a:t>
            </a:r>
            <a:endParaRPr lang="en-US" sz="728" dirty="0"/>
          </a:p>
        </p:txBody>
      </p:sp>
      <p:sp>
        <p:nvSpPr>
          <p:cNvPr id="47" name="Text 14"/>
          <p:cNvSpPr/>
          <p:nvPr/>
        </p:nvSpPr>
        <p:spPr>
          <a:xfrm>
            <a:off x="6350096" y="2554297"/>
            <a:ext cx="1321756" cy="228600"/>
          </a:xfrm>
          <a:prstGeom prst="rect">
            <a:avLst/>
          </a:prstGeom>
          <a:noFill/>
          <a:ln/>
        </p:spPr>
        <p:txBody>
          <a:bodyPr wrap="square" rtlCol="0" anchor="ctr"/>
          <a:lstStyle/>
          <a:p>
            <a:pPr algn="l" indent="0" marL="0">
              <a:lnSpc>
                <a:spcPts val="883"/>
              </a:lnSpc>
              <a:buNone/>
            </a:pPr>
            <a:r>
              <a:rPr lang="en-US" sz="728" dirty="0">
                <a:solidFill>
                  <a:srgbClr val="000000">
                    <a:alpha val="99000"/>
                  </a:srgbClr>
                </a:solidFill>
                <a:latin typeface="Actor" pitchFamily="34" charset="0"/>
                <a:ea typeface="Actor" pitchFamily="34" charset="-122"/>
                <a:cs typeface="Actor" pitchFamily="34" charset="-120"/>
              </a:rPr>
              <a:t>Supabase Database and API Creation</a:t>
            </a:r>
            <a:endParaRPr lang="en-US" sz="728" dirty="0"/>
          </a:p>
        </p:txBody>
      </p:sp>
      <p:sp>
        <p:nvSpPr>
          <p:cNvPr id="48" name="Text 15"/>
          <p:cNvSpPr/>
          <p:nvPr/>
        </p:nvSpPr>
        <p:spPr>
          <a:xfrm>
            <a:off x="7861418" y="2554297"/>
            <a:ext cx="1024771" cy="452438"/>
          </a:xfrm>
          <a:prstGeom prst="rect">
            <a:avLst/>
          </a:prstGeom>
          <a:noFill/>
          <a:ln/>
        </p:spPr>
        <p:txBody>
          <a:bodyPr wrap="square" rtlCol="0" anchor="ctr"/>
          <a:lstStyle/>
          <a:p>
            <a:pPr algn="l" indent="0" marL="0">
              <a:lnSpc>
                <a:spcPts val="883"/>
              </a:lnSpc>
              <a:buNone/>
            </a:pPr>
            <a:r>
              <a:rPr lang="en-US" sz="728" dirty="0">
                <a:solidFill>
                  <a:srgbClr val="000000">
                    <a:alpha val="99000"/>
                  </a:srgbClr>
                </a:solidFill>
                <a:latin typeface="Actor" pitchFamily="34" charset="0"/>
                <a:ea typeface="Actor" pitchFamily="34" charset="-122"/>
                <a:cs typeface="Actor" pitchFamily="34" charset="-120"/>
              </a:rPr>
              <a:t>Live working MVP Tests and user recruitment</a:t>
            </a:r>
            <a:endParaRPr lang="en-US" sz="728" dirty="0"/>
          </a:p>
        </p:txBody>
      </p:sp>
      <p:sp>
        <p:nvSpPr>
          <p:cNvPr id="49" name="Text 16"/>
          <p:cNvSpPr/>
          <p:nvPr/>
        </p:nvSpPr>
        <p:spPr>
          <a:xfrm>
            <a:off x="1921715" y="2580696"/>
            <a:ext cx="958775" cy="244188"/>
          </a:xfrm>
          <a:prstGeom prst="rect">
            <a:avLst/>
          </a:prstGeom>
          <a:noFill/>
          <a:ln/>
        </p:spPr>
        <p:txBody>
          <a:bodyPr wrap="square" rtlCol="0" anchor="ctr"/>
          <a:lstStyle/>
          <a:p>
            <a:pPr algn="l" indent="0" marL="0">
              <a:lnSpc>
                <a:spcPts val="883"/>
              </a:lnSpc>
              <a:buNone/>
            </a:pPr>
            <a:r>
              <a:rPr lang="en-US" sz="728" dirty="0">
                <a:solidFill>
                  <a:srgbClr val="000000">
                    <a:alpha val="99000"/>
                  </a:srgbClr>
                </a:solidFill>
                <a:latin typeface="Actor" pitchFamily="34" charset="0"/>
                <a:ea typeface="Actor" pitchFamily="34" charset="-122"/>
                <a:cs typeface="Actor" pitchFamily="34" charset="-120"/>
              </a:rPr>
              <a:t>User Journey Map</a:t>
            </a:r>
            <a:endParaRPr lang="en-US" sz="728" dirty="0"/>
          </a:p>
        </p:txBody>
      </p:sp>
      <p:sp>
        <p:nvSpPr>
          <p:cNvPr id="50" name="Text 17"/>
          <p:cNvSpPr/>
          <p:nvPr/>
        </p:nvSpPr>
        <p:spPr>
          <a:xfrm>
            <a:off x="1921715" y="3009674"/>
            <a:ext cx="813582" cy="244188"/>
          </a:xfrm>
          <a:prstGeom prst="rect">
            <a:avLst/>
          </a:prstGeom>
          <a:noFill/>
          <a:ln/>
        </p:spPr>
        <p:txBody>
          <a:bodyPr wrap="square" rtlCol="0" anchor="ctr"/>
          <a:lstStyle/>
          <a:p>
            <a:pPr algn="l" indent="0" marL="0">
              <a:lnSpc>
                <a:spcPts val="883"/>
              </a:lnSpc>
              <a:buNone/>
            </a:pPr>
            <a:r>
              <a:rPr lang="en-US" sz="728" dirty="0">
                <a:solidFill>
                  <a:srgbClr val="000000">
                    <a:alpha val="99000"/>
                  </a:srgbClr>
                </a:solidFill>
                <a:latin typeface="Actor" pitchFamily="34" charset="0"/>
                <a:ea typeface="Actor" pitchFamily="34" charset="-122"/>
                <a:cs typeface="Actor" pitchFamily="34" charset="-120"/>
              </a:rPr>
              <a:t>UX Personas</a:t>
            </a:r>
            <a:endParaRPr lang="en-US" sz="728" dirty="0"/>
          </a:p>
        </p:txBody>
      </p:sp>
      <p:sp>
        <p:nvSpPr>
          <p:cNvPr id="51" name="Text 18"/>
          <p:cNvSpPr/>
          <p:nvPr/>
        </p:nvSpPr>
        <p:spPr>
          <a:xfrm>
            <a:off x="2238505" y="3346257"/>
            <a:ext cx="905977" cy="244188"/>
          </a:xfrm>
          <a:prstGeom prst="rect">
            <a:avLst/>
          </a:prstGeom>
          <a:noFill/>
          <a:ln/>
        </p:spPr>
        <p:txBody>
          <a:bodyPr wrap="square" rtlCol="0" anchor="ctr"/>
          <a:lstStyle/>
          <a:p>
            <a:pPr algn="l" indent="0" marL="0">
              <a:lnSpc>
                <a:spcPts val="883"/>
              </a:lnSpc>
              <a:buNone/>
            </a:pPr>
            <a:r>
              <a:rPr lang="en-US" sz="728" dirty="0">
                <a:solidFill>
                  <a:srgbClr val="000000">
                    <a:alpha val="99000"/>
                  </a:srgbClr>
                </a:solidFill>
                <a:latin typeface="Actor" pitchFamily="34" charset="0"/>
                <a:ea typeface="Actor" pitchFamily="34" charset="-122"/>
                <a:cs typeface="Actor" pitchFamily="34" charset="-120"/>
              </a:rPr>
              <a:t>Site Navigation Map</a:t>
            </a:r>
            <a:endParaRPr lang="en-US" sz="728" dirty="0"/>
          </a:p>
        </p:txBody>
      </p:sp>
      <p:sp>
        <p:nvSpPr>
          <p:cNvPr id="52" name="Text 19"/>
          <p:cNvSpPr/>
          <p:nvPr/>
        </p:nvSpPr>
        <p:spPr>
          <a:xfrm>
            <a:off x="1050559" y="2818283"/>
            <a:ext cx="1090768" cy="336583"/>
          </a:xfrm>
          <a:prstGeom prst="rect">
            <a:avLst/>
          </a:prstGeom>
          <a:noFill/>
          <a:ln/>
        </p:spPr>
        <p:txBody>
          <a:bodyPr wrap="square" rtlCol="0" anchor="ctr"/>
          <a:lstStyle/>
          <a:p>
            <a:pPr algn="l" indent="0" marL="0">
              <a:lnSpc>
                <a:spcPts val="883"/>
              </a:lnSpc>
              <a:buNone/>
            </a:pPr>
            <a:r>
              <a:rPr lang="en-US" sz="728" dirty="0">
                <a:solidFill>
                  <a:srgbClr val="000000">
                    <a:alpha val="99000"/>
                  </a:srgbClr>
                </a:solidFill>
                <a:latin typeface="Actor" pitchFamily="34" charset="0"/>
                <a:ea typeface="Actor" pitchFamily="34" charset="-122"/>
                <a:cs typeface="Actor" pitchFamily="34" charset="-120"/>
              </a:rPr>
              <a:t>Project Plan Document</a:t>
            </a:r>
            <a:endParaRPr lang="en-US" sz="728"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61D"/>
        </a:solidFill>
      </p:bgPr>
    </p:bg>
    <p:spTree>
      <p:nvGrpSpPr>
        <p:cNvPr id="1" name=""/>
        <p:cNvGrpSpPr/>
        <p:nvPr/>
      </p:nvGrpSpPr>
      <p:grpSpPr>
        <a:xfrm>
          <a:off x="0" y="0"/>
          <a:ext cx="0" cy="0"/>
          <a:chOff x="0" y="0"/>
          <a:chExt cx="0" cy="0"/>
        </a:xfrm>
      </p:grpSpPr>
      <p:sp>
        <p:nvSpPr>
          <p:cNvPr id="2" name="Shape 0"/>
          <p:cNvSpPr/>
          <p:nvPr/>
        </p:nvSpPr>
        <p:spPr>
          <a:xfrm>
            <a:off x="476250" y="357188"/>
            <a:ext cx="4338638" cy="4429125"/>
          </a:xfrm>
          <a:prstGeom prst="rect">
            <a:avLst/>
          </a:prstGeom>
          <a:noFill/>
          <a:ln/>
        </p:spPr>
      </p:sp>
      <p:sp>
        <p:nvSpPr>
          <p:cNvPr id="3" name="Shape 1"/>
          <p:cNvSpPr/>
          <p:nvPr/>
        </p:nvSpPr>
        <p:spPr>
          <a:xfrm>
            <a:off x="476250" y="900113"/>
            <a:ext cx="4338638" cy="3886200"/>
          </a:xfrm>
          <a:prstGeom prst="rect">
            <a:avLst/>
          </a:prstGeom>
          <a:noFill/>
          <a:ln/>
        </p:spPr>
      </p:sp>
      <p:pic>
        <p:nvPicPr>
          <p:cNvPr id="4" name="Image 0" descr="preencoded.png">    </p:cNvPr>
          <p:cNvPicPr>
            <a:picLocks noChangeAspect="1"/>
          </p:cNvPicPr>
          <p:nvPr/>
        </p:nvPicPr>
        <p:blipFill>
          <a:blip r:embed="rId1"/>
          <a:stretch>
            <a:fillRect/>
          </a:stretch>
        </p:blipFill>
        <p:spPr>
          <a:xfrm>
            <a:off x="5195888" y="0"/>
            <a:ext cx="3948112" cy="5143500"/>
          </a:xfrm>
          <a:prstGeom prst="rect">
            <a:avLst/>
          </a:prstGeom>
        </p:spPr>
      </p:pic>
      <p:sp>
        <p:nvSpPr>
          <p:cNvPr id="5" name="Text 2"/>
          <p:cNvSpPr/>
          <p:nvPr/>
        </p:nvSpPr>
        <p:spPr>
          <a:xfrm>
            <a:off x="476250" y="357188"/>
            <a:ext cx="4795838" cy="395288"/>
          </a:xfrm>
          <a:prstGeom prst="rect">
            <a:avLst/>
          </a:prstGeom>
          <a:noFill/>
          <a:ln/>
        </p:spPr>
        <p:txBody>
          <a:bodyPr wrap="square" rtlCol="0" anchor="ctr"/>
          <a:lstStyle/>
          <a:p>
            <a:pPr algn="l" indent="0" marL="0">
              <a:lnSpc>
                <a:spcPts val="3120"/>
              </a:lnSpc>
              <a:buNone/>
            </a:pPr>
            <a:r>
              <a:rPr lang="en-US" sz="2400" spc="-53" kern="0" dirty="0">
                <a:solidFill>
                  <a:srgbClr val="FFFFFF">
                    <a:alpha val="99000"/>
                  </a:srgbClr>
                </a:solidFill>
                <a:latin typeface="IBM Plex Sans" pitchFamily="34" charset="0"/>
                <a:ea typeface="IBM Plex Sans" pitchFamily="34" charset="-122"/>
                <a:cs typeface="IBM Plex Sans" pitchFamily="34" charset="-120"/>
              </a:rPr>
              <a:t>Project Rationale</a:t>
            </a:r>
            <a:endParaRPr lang="en-US" sz="2400" dirty="0"/>
          </a:p>
        </p:txBody>
      </p:sp>
      <p:sp>
        <p:nvSpPr>
          <p:cNvPr id="6" name="Text 3"/>
          <p:cNvSpPr/>
          <p:nvPr/>
        </p:nvSpPr>
        <p:spPr>
          <a:xfrm>
            <a:off x="476250" y="900113"/>
            <a:ext cx="4795838" cy="3886200"/>
          </a:xfrm>
          <a:prstGeom prst="rect">
            <a:avLst/>
          </a:prstGeom>
          <a:noFill/>
          <a:ln/>
        </p:spPr>
        <p:txBody>
          <a:bodyPr wrap="square" rtlCol="0" anchor="ctr"/>
          <a:lstStyle/>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The purpose of this project is to build our development skills by working with React while leveraging Supabase as a backend solution to support our design.</a:t>
            </a:r>
            <a:endParaRPr lang="en-US" sz="1200" dirty="0"/>
          </a:p>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Beyond being a technical exercise, the project is conceived as a meaningful portfolio piece: something that provides genuine value for the KPU community and can serve as a foundation for future growth. Our goal is to demonstrate not only technical competence, but also the ability to design scalable solutions that address real user needs and can evolve over time.</a:t>
            </a:r>
            <a:endParaRPr lang="en-US" sz="1200" dirty="0"/>
          </a:p>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Ultimately, our goal with any project in our program is to build our skills and open doors for work in front end development after graduation. Using React, which one of the most widely used tools in modern web development will demonstrate for potential employers that we are ready to enter the workforce upon graduation.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61D"/>
        </a:solidFill>
      </p:bgPr>
    </p:bg>
    <p:spTree>
      <p:nvGrpSpPr>
        <p:cNvPr id="1" name=""/>
        <p:cNvGrpSpPr/>
        <p:nvPr/>
      </p:nvGrpSpPr>
      <p:grpSpPr>
        <a:xfrm>
          <a:off x="0" y="0"/>
          <a:ext cx="0" cy="0"/>
          <a:chOff x="0" y="0"/>
          <a:chExt cx="0" cy="0"/>
        </a:xfrm>
      </p:grpSpPr>
      <p:sp>
        <p:nvSpPr>
          <p:cNvPr id="2" name="Shape 0"/>
          <p:cNvSpPr/>
          <p:nvPr/>
        </p:nvSpPr>
        <p:spPr>
          <a:xfrm>
            <a:off x="476250" y="1042988"/>
            <a:ext cx="8191500" cy="2600325"/>
          </a:xfrm>
          <a:prstGeom prst="rect">
            <a:avLst/>
          </a:prstGeom>
          <a:noFill/>
          <a:ln/>
        </p:spPr>
      </p:sp>
      <p:sp>
        <p:nvSpPr>
          <p:cNvPr id="3" name="Shape 1"/>
          <p:cNvSpPr/>
          <p:nvPr/>
        </p:nvSpPr>
        <p:spPr>
          <a:xfrm>
            <a:off x="476250" y="1585913"/>
            <a:ext cx="8191500" cy="2057400"/>
          </a:xfrm>
          <a:prstGeom prst="rect">
            <a:avLst/>
          </a:prstGeom>
          <a:noFill/>
          <a:ln/>
        </p:spPr>
      </p:sp>
      <p:sp>
        <p:nvSpPr>
          <p:cNvPr id="4" name="Text 2"/>
          <p:cNvSpPr/>
          <p:nvPr/>
        </p:nvSpPr>
        <p:spPr>
          <a:xfrm>
            <a:off x="476250" y="1042988"/>
            <a:ext cx="8648700" cy="395288"/>
          </a:xfrm>
          <a:prstGeom prst="rect">
            <a:avLst/>
          </a:prstGeom>
          <a:noFill/>
          <a:ln/>
        </p:spPr>
        <p:txBody>
          <a:bodyPr wrap="square" rtlCol="0" anchor="ctr"/>
          <a:lstStyle/>
          <a:p>
            <a:pPr algn="l" indent="0" marL="0">
              <a:lnSpc>
                <a:spcPts val="3120"/>
              </a:lnSpc>
              <a:buNone/>
            </a:pPr>
            <a:r>
              <a:rPr lang="en-US" sz="2400" spc="-53" kern="0" dirty="0">
                <a:solidFill>
                  <a:srgbClr val="FFFFFF">
                    <a:alpha val="99000"/>
                  </a:srgbClr>
                </a:solidFill>
                <a:latin typeface="IBM Plex Sans" pitchFamily="34" charset="0"/>
                <a:ea typeface="IBM Plex Sans" pitchFamily="34" charset="-122"/>
                <a:cs typeface="IBM Plex Sans" pitchFamily="34" charset="-120"/>
              </a:rPr>
              <a:t>Future Roles and Project Value</a:t>
            </a:r>
            <a:endParaRPr lang="en-US" sz="2400" dirty="0"/>
          </a:p>
        </p:txBody>
      </p:sp>
      <p:sp>
        <p:nvSpPr>
          <p:cNvPr id="5" name="Text 3"/>
          <p:cNvSpPr/>
          <p:nvPr/>
        </p:nvSpPr>
        <p:spPr>
          <a:xfrm>
            <a:off x="476250" y="1585913"/>
            <a:ext cx="8648700" cy="2057400"/>
          </a:xfrm>
          <a:prstGeom prst="rect">
            <a:avLst/>
          </a:prstGeom>
          <a:noFill/>
          <a:ln/>
        </p:spPr>
        <p:txBody>
          <a:bodyPr wrap="square" rtlCol="0" anchor="ctr"/>
          <a:lstStyle/>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This semester is the first time we are being exposed to using React to build user interfaces. This presents an exciting opportunity for us to create experiences that are more engaging and dynamic than anything we have created in the past. The skills we gain with React, combined with integration of modern backend tools like Supabase, will be extremely valuable to highlight in our portfolios and demonstrate to potential employers.</a:t>
            </a:r>
            <a:endParaRPr lang="en-US" sz="1200" dirty="0"/>
          </a:p>
          <a:p>
            <a:pPr algn="l" indent="0" marL="0">
              <a:lnSpc>
                <a:spcPts val="1800"/>
              </a:lnSpc>
              <a:buNone/>
            </a:pPr>
            <a:r>
              <a:rPr lang="en-US" sz="1200" dirty="0">
                <a:solidFill>
                  <a:srgbClr val="FFFFFF">
                    <a:alpha val="99000"/>
                  </a:srgbClr>
                </a:solidFill>
                <a:latin typeface="IBM Plex Sans" pitchFamily="34" charset="0"/>
                <a:ea typeface="IBM Plex Sans" pitchFamily="34" charset="-122"/>
                <a:cs typeface="IBM Plex Sans" pitchFamily="34" charset="-120"/>
              </a:rPr>
              <a:t>Because this project takes us all the way from UX conceptualization to development, it provides genuine, hands-on experience with the full product lifecycle. Our program at KPU is unique in that we are developing skills in both design and development. This project will showcase how these strengths translate into a fully working product from conceptualization to deployment - evidence that we can contribute to multidisciplinary teams after graduation.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2025-09-16T22:16:52Z</dcterms:created>
  <dcterms:modified xsi:type="dcterms:W3CDTF">2025-09-16T22:16:52Z</dcterms:modified>
</cp:coreProperties>
</file>